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7142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868680" y="2103120"/>
            <a:ext cx="45720" cy="1572768"/>
          </a:xfrm>
          <a:prstGeom prst="rect">
            <a:avLst/>
          </a:prstGeom>
          <a:solidFill>
            <a:srgbClr val="6D28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115568" y="2084831"/>
            <a:ext cx="960120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150" b="1" spc="180">
                <a:solidFill>
                  <a:srgbClr val="C4B5FD"/>
                </a:solidFill>
                <a:latin typeface="Segoe UI"/>
              </a:rPr>
              <a:t>SOFTWARE TEST ENGINEER  ·  PRAKTICKÝ ÚKOL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15568" y="2450592"/>
            <a:ext cx="9692640" cy="11887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6000"/>
              </a:lnSpc>
            </a:pPr>
            <a:r>
              <a:rPr sz="4600" b="1">
                <a:solidFill>
                  <a:srgbClr val="FFFFFF"/>
                </a:solidFill>
                <a:latin typeface="Segoe UI"/>
              </a:rPr>
              <a:t>Hybridní E2E automatizace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5568" y="3712463"/>
            <a:ext cx="9692640" cy="3840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700" b="0">
                <a:solidFill>
                  <a:srgbClr val="BDB6D2"/>
                </a:solidFill>
                <a:latin typeface="Segoe UI"/>
              </a:rPr>
              <a:t>Playwright + TypeScript  ·  UI a API v jednom frameworku  ·  CI/CD</a:t>
            </a:r>
          </a:p>
        </p:txBody>
      </p:sp>
      <p:sp>
        <p:nvSpPr>
          <p:cNvPr id="6" name="Rectangle 5"/>
          <p:cNvSpPr/>
          <p:nvPr/>
        </p:nvSpPr>
        <p:spPr>
          <a:xfrm>
            <a:off x="868680" y="4663440"/>
            <a:ext cx="10460736" cy="9525"/>
          </a:xfrm>
          <a:prstGeom prst="rect">
            <a:avLst/>
          </a:prstGeom>
          <a:solidFill>
            <a:srgbClr val="352C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4901184"/>
            <a:ext cx="10460736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300" b="0">
                <a:solidFill>
                  <a:srgbClr val="958DAC"/>
                </a:solidFill>
                <a:latin typeface="Segoe UI"/>
              </a:rPr>
              <a:t>Štěpán Doubal        ·        Demoblaze (UI)  +  Restful-Booker (API)        ·        GitHub Actions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7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868680" y="566928"/>
            <a:ext cx="45720" cy="786384"/>
          </a:xfrm>
          <a:prstGeom prst="rect">
            <a:avLst/>
          </a:prstGeom>
          <a:solidFill>
            <a:srgbClr val="6D28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115568" y="548640"/>
            <a:ext cx="10460736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050" b="1" spc="160">
                <a:solidFill>
                  <a:srgbClr val="6D28D9"/>
                </a:solidFill>
                <a:latin typeface="Segoe UI"/>
              </a:rPr>
              <a:t>KONTEXT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15568" y="822960"/>
            <a:ext cx="10460736" cy="5669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3000" b="1">
                <a:solidFill>
                  <a:srgbClr val="171421"/>
                </a:solidFill>
                <a:latin typeface="Segoe UI"/>
              </a:rPr>
              <a:t>Zadání v kostce</a:t>
            </a:r>
          </a:p>
        </p:txBody>
      </p:sp>
      <p:sp>
        <p:nvSpPr>
          <p:cNvPr id="5" name="Rectangle 4"/>
          <p:cNvSpPr/>
          <p:nvPr/>
        </p:nvSpPr>
        <p:spPr>
          <a:xfrm>
            <a:off x="868680" y="6327648"/>
            <a:ext cx="10460736" cy="9525"/>
          </a:xfrm>
          <a:prstGeom prst="rect">
            <a:avLst/>
          </a:prstGeom>
          <a:solidFill>
            <a:srgbClr val="DFDA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0" y="6419088"/>
            <a:ext cx="1271016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000" b="0">
                <a:solidFill>
                  <a:srgbClr val="5D5772"/>
                </a:solidFill>
                <a:latin typeface="Segoe UI"/>
              </a:rPr>
              <a:t>1</a:t>
            </a:r>
          </a:p>
        </p:txBody>
      </p:sp>
      <p:sp>
        <p:nvSpPr>
          <p:cNvPr id="7" name="Rectangle 6"/>
          <p:cNvSpPr/>
          <p:nvPr/>
        </p:nvSpPr>
        <p:spPr>
          <a:xfrm>
            <a:off x="868680" y="1755648"/>
            <a:ext cx="5102352" cy="1700784"/>
          </a:xfrm>
          <a:prstGeom prst="rect">
            <a:avLst/>
          </a:prstGeom>
          <a:solidFill>
            <a:srgbClr val="F0EC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868680" y="1755648"/>
            <a:ext cx="41148" cy="1700784"/>
          </a:xfrm>
          <a:prstGeom prst="rect">
            <a:avLst/>
          </a:prstGeom>
          <a:solidFill>
            <a:srgbClr val="6D28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61288" y="1993392"/>
            <a:ext cx="4553712" cy="133502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500" b="1">
                <a:solidFill>
                  <a:srgbClr val="171421"/>
                </a:solidFill>
                <a:latin typeface="Segoe UI"/>
              </a:rPr>
              <a:t>UI  ·  E2E nákupní flow</a:t>
            </a:r>
          </a:p>
          <a:p>
            <a:pPr>
              <a:lnSpc>
                <a:spcPct val="126000"/>
              </a:lnSpc>
              <a:spcBef>
                <a:spcPts val="500"/>
              </a:spcBef>
            </a:pPr>
            <a:r>
              <a:rPr sz="1250" b="0">
                <a:solidFill>
                  <a:srgbClr val="5D5772"/>
                </a:solidFill>
                <a:latin typeface="Segoe UI"/>
              </a:rPr>
              <a:t>Demoblaze: home → produkt → košík</a:t>
            </a:r>
          </a:p>
          <a:p>
            <a:pPr>
              <a:lnSpc>
                <a:spcPct val="126000"/>
              </a:lnSpc>
              <a:spcBef>
                <a:spcPts val="500"/>
              </a:spcBef>
            </a:pPr>
            <a:r>
              <a:rPr sz="1250" b="0">
                <a:solidFill>
                  <a:srgbClr val="5D5772"/>
                </a:solidFill>
                <a:latin typeface="Segoe UI"/>
              </a:rPr>
              <a:t>Page Object Model, page guards s isLoaded()</a:t>
            </a:r>
          </a:p>
          <a:p>
            <a:pPr>
              <a:lnSpc>
                <a:spcPct val="126000"/>
              </a:lnSpc>
              <a:spcBef>
                <a:spcPts val="500"/>
              </a:spcBef>
            </a:pPr>
            <a:r>
              <a:rPr sz="1250" b="0">
                <a:solidFill>
                  <a:srgbClr val="5D5772"/>
                </a:solidFill>
                <a:latin typeface="Segoe UI"/>
              </a:rPr>
              <a:t>Žádné statické sleepy, asynchronní dialog</a:t>
            </a:r>
          </a:p>
        </p:txBody>
      </p:sp>
      <p:sp>
        <p:nvSpPr>
          <p:cNvPr id="10" name="Rectangle 9"/>
          <p:cNvSpPr/>
          <p:nvPr/>
        </p:nvSpPr>
        <p:spPr>
          <a:xfrm>
            <a:off x="6227064" y="1755648"/>
            <a:ext cx="5102352" cy="1700784"/>
          </a:xfrm>
          <a:prstGeom prst="rect">
            <a:avLst/>
          </a:prstGeom>
          <a:solidFill>
            <a:srgbClr val="F0EC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227064" y="1755648"/>
            <a:ext cx="41148" cy="1700784"/>
          </a:xfrm>
          <a:prstGeom prst="rect">
            <a:avLst/>
          </a:prstGeom>
          <a:solidFill>
            <a:srgbClr val="4ADE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519672" y="1993392"/>
            <a:ext cx="4553712" cy="133502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500" b="1">
                <a:solidFill>
                  <a:srgbClr val="171421"/>
                </a:solidFill>
                <a:latin typeface="Segoe UI"/>
              </a:rPr>
              <a:t>API  ·  Integrační scénář</a:t>
            </a:r>
          </a:p>
          <a:p>
            <a:pPr>
              <a:lnSpc>
                <a:spcPct val="126000"/>
              </a:lnSpc>
              <a:spcBef>
                <a:spcPts val="500"/>
              </a:spcBef>
            </a:pPr>
            <a:r>
              <a:rPr sz="1250" b="0">
                <a:solidFill>
                  <a:srgbClr val="5D5772"/>
                </a:solidFill>
                <a:latin typeface="Segoe UI"/>
              </a:rPr>
              <a:t>Restful-Booker: POST /booking → GET /booking/{id}</a:t>
            </a:r>
          </a:p>
          <a:p>
            <a:pPr>
              <a:lnSpc>
                <a:spcPct val="126000"/>
              </a:lnSpc>
              <a:spcBef>
                <a:spcPts val="500"/>
              </a:spcBef>
            </a:pPr>
            <a:r>
              <a:rPr sz="1250" b="0">
                <a:solidFill>
                  <a:srgbClr val="5D5772"/>
                </a:solidFill>
                <a:latin typeface="Segoe UI"/>
              </a:rPr>
              <a:t>Playwright APIRequestContext</a:t>
            </a:r>
          </a:p>
          <a:p>
            <a:pPr>
              <a:lnSpc>
                <a:spcPct val="126000"/>
              </a:lnSpc>
              <a:spcBef>
                <a:spcPts val="500"/>
              </a:spcBef>
            </a:pPr>
            <a:r>
              <a:rPr sz="1250" b="0">
                <a:solidFill>
                  <a:srgbClr val="5D5772"/>
                </a:solidFill>
                <a:latin typeface="Segoe UI"/>
              </a:rPr>
              <a:t>Typovaná rozhraní pro request i response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68680" y="3730752"/>
            <a:ext cx="5102352" cy="1700784"/>
          </a:xfrm>
          <a:prstGeom prst="rect">
            <a:avLst/>
          </a:prstGeom>
          <a:solidFill>
            <a:srgbClr val="F0EC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868680" y="3730752"/>
            <a:ext cx="41148" cy="1700784"/>
          </a:xfrm>
          <a:prstGeom prst="rect">
            <a:avLst/>
          </a:prstGeom>
          <a:solidFill>
            <a:srgbClr val="5D57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161288" y="3968496"/>
            <a:ext cx="4553712" cy="133502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500" b="1">
                <a:solidFill>
                  <a:srgbClr val="171421"/>
                </a:solidFill>
                <a:latin typeface="Segoe UI"/>
              </a:rPr>
              <a:t>SQL  ·  Teoretická část</a:t>
            </a:r>
          </a:p>
          <a:p>
            <a:pPr>
              <a:lnSpc>
                <a:spcPct val="126000"/>
              </a:lnSpc>
              <a:spcBef>
                <a:spcPts val="500"/>
              </a:spcBef>
            </a:pPr>
            <a:r>
              <a:rPr sz="1250" b="0">
                <a:solidFill>
                  <a:srgbClr val="5D5772"/>
                </a:solidFill>
                <a:latin typeface="Segoe UI"/>
              </a:rPr>
              <a:t>Cleanup DELETE s ohledem na cizí klíče</a:t>
            </a:r>
          </a:p>
          <a:p>
            <a:pPr>
              <a:lnSpc>
                <a:spcPct val="126000"/>
              </a:lnSpc>
              <a:spcBef>
                <a:spcPts val="500"/>
              </a:spcBef>
            </a:pPr>
            <a:r>
              <a:rPr sz="1250" b="0">
                <a:solidFill>
                  <a:srgbClr val="5D5772"/>
                </a:solidFill>
                <a:latin typeface="Segoe UI"/>
              </a:rPr>
              <a:t>JOIN ověřující uloženou adresu uživatele</a:t>
            </a:r>
          </a:p>
          <a:p>
            <a:pPr>
              <a:lnSpc>
                <a:spcPct val="126000"/>
              </a:lnSpc>
              <a:spcBef>
                <a:spcPts val="500"/>
              </a:spcBef>
            </a:pPr>
            <a:r>
              <a:rPr sz="1250" b="0">
                <a:solidFill>
                  <a:srgbClr val="5D5772"/>
                </a:solidFill>
                <a:latin typeface="Segoe UI"/>
              </a:rPr>
              <a:t>Odevzdává se v README, ne v kódu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227064" y="3730752"/>
            <a:ext cx="5102352" cy="1700784"/>
          </a:xfrm>
          <a:prstGeom prst="rect">
            <a:avLst/>
          </a:prstGeom>
          <a:solidFill>
            <a:srgbClr val="F0EC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227064" y="3730752"/>
            <a:ext cx="41148" cy="1700784"/>
          </a:xfrm>
          <a:prstGeom prst="rect">
            <a:avLst/>
          </a:prstGeom>
          <a:solidFill>
            <a:srgbClr val="6D28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519672" y="3968496"/>
            <a:ext cx="4553712" cy="133502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500" b="1">
                <a:solidFill>
                  <a:srgbClr val="171421"/>
                </a:solidFill>
                <a:latin typeface="Segoe UI"/>
              </a:rPr>
              <a:t>CI/CD  ·  GitHub Actions</a:t>
            </a:r>
          </a:p>
          <a:p>
            <a:pPr>
              <a:lnSpc>
                <a:spcPct val="126000"/>
              </a:lnSpc>
              <a:spcBef>
                <a:spcPts val="500"/>
              </a:spcBef>
            </a:pPr>
            <a:r>
              <a:rPr sz="1250" b="0">
                <a:solidFill>
                  <a:srgbClr val="5D5772"/>
                </a:solidFill>
                <a:latin typeface="Segoe UI"/>
              </a:rPr>
              <a:t>Headless Chromium při každém pushi</a:t>
            </a:r>
          </a:p>
          <a:p>
            <a:pPr>
              <a:lnSpc>
                <a:spcPct val="126000"/>
              </a:lnSpc>
              <a:spcBef>
                <a:spcPts val="500"/>
              </a:spcBef>
            </a:pPr>
            <a:r>
              <a:rPr sz="1250" b="0">
                <a:solidFill>
                  <a:srgbClr val="5D5772"/>
                </a:solidFill>
                <a:latin typeface="Segoe UI"/>
              </a:rPr>
              <a:t>Artefakty při selhání, retence 30 dní</a:t>
            </a:r>
          </a:p>
          <a:p>
            <a:pPr>
              <a:lnSpc>
                <a:spcPct val="126000"/>
              </a:lnSpc>
              <a:spcBef>
                <a:spcPts val="500"/>
              </a:spcBef>
            </a:pPr>
            <a:r>
              <a:rPr sz="1250" b="0">
                <a:solidFill>
                  <a:srgbClr val="5D5772"/>
                </a:solidFill>
                <a:latin typeface="Segoe UI"/>
              </a:rPr>
              <a:t>UI a API v oddělených jobech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68680" y="5760720"/>
            <a:ext cx="10460736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250" b="0">
                <a:solidFill>
                  <a:srgbClr val="5D5772"/>
                </a:solidFill>
                <a:latin typeface="Segoe UI"/>
              </a:rPr>
              <a:t>Odhadovaný čas 4–6 hodin.  Hodnotí se inženýrský přístup, kvalita kódu a architektura řešení.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7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868680" y="566928"/>
            <a:ext cx="45720" cy="786384"/>
          </a:xfrm>
          <a:prstGeom prst="rect">
            <a:avLst/>
          </a:prstGeom>
          <a:solidFill>
            <a:srgbClr val="6D28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115568" y="548640"/>
            <a:ext cx="10460736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050" b="1" spc="160">
                <a:solidFill>
                  <a:srgbClr val="6D28D9"/>
                </a:solidFill>
                <a:latin typeface="Segoe UI"/>
              </a:rPr>
              <a:t>ARCHITEKTURA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15568" y="822960"/>
            <a:ext cx="10460736" cy="5669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3000" b="1">
                <a:solidFill>
                  <a:srgbClr val="171421"/>
                </a:solidFill>
                <a:latin typeface="Segoe UI"/>
              </a:rPr>
              <a:t>Čtyři vrstvy, jasná odpovědnost</a:t>
            </a:r>
          </a:p>
        </p:txBody>
      </p:sp>
      <p:sp>
        <p:nvSpPr>
          <p:cNvPr id="5" name="Rectangle 4"/>
          <p:cNvSpPr/>
          <p:nvPr/>
        </p:nvSpPr>
        <p:spPr>
          <a:xfrm>
            <a:off x="868680" y="6327648"/>
            <a:ext cx="10460736" cy="9525"/>
          </a:xfrm>
          <a:prstGeom prst="rect">
            <a:avLst/>
          </a:prstGeom>
          <a:solidFill>
            <a:srgbClr val="DFDA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0" y="6419088"/>
            <a:ext cx="1271016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000" b="0">
                <a:solidFill>
                  <a:srgbClr val="5D5772"/>
                </a:solidFill>
                <a:latin typeface="Segoe UI"/>
              </a:rPr>
              <a:t>2</a:t>
            </a:r>
          </a:p>
        </p:txBody>
      </p:sp>
      <p:sp>
        <p:nvSpPr>
          <p:cNvPr id="7" name="Rectangle 6"/>
          <p:cNvSpPr/>
          <p:nvPr/>
        </p:nvSpPr>
        <p:spPr>
          <a:xfrm>
            <a:off x="868680" y="1755648"/>
            <a:ext cx="10460736" cy="1060704"/>
          </a:xfrm>
          <a:prstGeom prst="rect">
            <a:avLst/>
          </a:prstGeom>
          <a:solidFill>
            <a:srgbClr val="F0EC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868680" y="1755648"/>
            <a:ext cx="41148" cy="1060704"/>
          </a:xfrm>
          <a:prstGeom prst="rect">
            <a:avLst/>
          </a:prstGeom>
          <a:solidFill>
            <a:srgbClr val="6D28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61288" y="1920240"/>
            <a:ext cx="9784080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000" b="1" spc="140">
                <a:solidFill>
                  <a:srgbClr val="6D28D9"/>
                </a:solidFill>
                <a:latin typeface="Segoe UI"/>
              </a:rPr>
              <a:t>TESTY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61288" y="2176272"/>
            <a:ext cx="98755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250" b="0">
                <a:solidFill>
                  <a:srgbClr val="171421"/>
                </a:solidFill>
                <a:latin typeface="Consolas"/>
              </a:rPr>
              <a:t>tests/ui/purchase-flow.spec.ts          tests/api/booking.spec.ts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61288" y="2468880"/>
            <a:ext cx="987552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200" b="0">
                <a:solidFill>
                  <a:srgbClr val="5D5772"/>
                </a:solidFill>
                <a:latin typeface="Segoe UI"/>
              </a:rPr>
              <a:t>Čtou se jako scénář. Žádné lokátory, žádné HTTP detaily.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68680" y="2944368"/>
            <a:ext cx="10460736" cy="1060704"/>
          </a:xfrm>
          <a:prstGeom prst="rect">
            <a:avLst/>
          </a:prstGeom>
          <a:solidFill>
            <a:srgbClr val="F0EC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868680" y="2944368"/>
            <a:ext cx="41148" cy="1060704"/>
          </a:xfrm>
          <a:prstGeom prst="rect">
            <a:avLst/>
          </a:prstGeom>
          <a:solidFill>
            <a:srgbClr val="6D28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61288" y="3108960"/>
            <a:ext cx="9784080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000" b="1" spc="140">
                <a:solidFill>
                  <a:srgbClr val="6D28D9"/>
                </a:solidFill>
                <a:latin typeface="Segoe UI"/>
              </a:rPr>
              <a:t>FIXTURES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61288" y="3364992"/>
            <a:ext cx="98755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250" b="0">
                <a:solidFill>
                  <a:srgbClr val="171421"/>
                </a:solidFill>
                <a:latin typeface="Consolas"/>
              </a:rPr>
              <a:t>src/fixtures/test-fixtures.ts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61288" y="3657600"/>
            <a:ext cx="987552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200" b="0">
                <a:solidFill>
                  <a:srgbClr val="5D5772"/>
                </a:solidFill>
                <a:latin typeface="Segoe UI"/>
              </a:rPr>
              <a:t>Dependency injection. Líné vytváření — UI spec nikdy nestaví API klienta.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68680" y="4133088"/>
            <a:ext cx="10460736" cy="1060704"/>
          </a:xfrm>
          <a:prstGeom prst="rect">
            <a:avLst/>
          </a:prstGeom>
          <a:solidFill>
            <a:srgbClr val="F0EC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868680" y="4133088"/>
            <a:ext cx="41148" cy="1060704"/>
          </a:xfrm>
          <a:prstGeom prst="rect">
            <a:avLst/>
          </a:prstGeom>
          <a:solidFill>
            <a:srgbClr val="6D28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161288" y="4297680"/>
            <a:ext cx="9784080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000" b="1" spc="140">
                <a:solidFill>
                  <a:srgbClr val="6D28D9"/>
                </a:solidFill>
                <a:latin typeface="Segoe UI"/>
              </a:rPr>
              <a:t>PAGE OBJECTS  +  API KLIENT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61288" y="4553712"/>
            <a:ext cx="98755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250" b="0">
                <a:solidFill>
                  <a:srgbClr val="171421"/>
                </a:solidFill>
                <a:latin typeface="Consolas"/>
              </a:rPr>
              <a:t>BasePage · HomePage · ProductDetailPage · CartPage · NavigationHeader · BookingApiClient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61288" y="4846320"/>
            <a:ext cx="987552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200" b="0">
                <a:solidFill>
                  <a:srgbClr val="5D5772"/>
                </a:solidFill>
                <a:latin typeface="Segoe UI"/>
              </a:rPr>
              <a:t>Jediné místo, které zná DOM a endpointy.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868680" y="5321808"/>
            <a:ext cx="10460736" cy="786384"/>
          </a:xfrm>
          <a:prstGeom prst="rect">
            <a:avLst/>
          </a:prstGeom>
          <a:solidFill>
            <a:srgbClr val="E8E4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868680" y="5321808"/>
            <a:ext cx="41148" cy="786384"/>
          </a:xfrm>
          <a:prstGeom prst="rect">
            <a:avLst/>
          </a:prstGeom>
          <a:solidFill>
            <a:srgbClr val="5D57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161288" y="5486400"/>
            <a:ext cx="9784080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000" b="1" spc="140">
                <a:solidFill>
                  <a:srgbClr val="5D5772"/>
                </a:solidFill>
                <a:latin typeface="Segoe UI"/>
              </a:rPr>
              <a:t>SYSTÉM POD TESTEM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61288" y="5742432"/>
            <a:ext cx="98755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250" b="0">
                <a:solidFill>
                  <a:srgbClr val="171421"/>
                </a:solidFill>
                <a:latin typeface="Consolas"/>
              </a:rPr>
              <a:t>demoblaze.com                                    restful-booker.herokuapp.com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7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868680" y="566928"/>
            <a:ext cx="45720" cy="786384"/>
          </a:xfrm>
          <a:prstGeom prst="rect">
            <a:avLst/>
          </a:prstGeom>
          <a:solidFill>
            <a:srgbClr val="6D28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115568" y="548640"/>
            <a:ext cx="10460736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050" b="1" spc="160">
                <a:solidFill>
                  <a:srgbClr val="6D28D9"/>
                </a:solidFill>
                <a:latin typeface="Segoe UI"/>
              </a:rPr>
              <a:t>UI SCÉNÁŘ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15568" y="822960"/>
            <a:ext cx="10460736" cy="5669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3000" b="1">
                <a:solidFill>
                  <a:srgbClr val="171421"/>
                </a:solidFill>
                <a:latin typeface="Segoe UI"/>
              </a:rPr>
              <a:t>Šest kroků zadání, šest míst v kódu</a:t>
            </a:r>
          </a:p>
        </p:txBody>
      </p:sp>
      <p:sp>
        <p:nvSpPr>
          <p:cNvPr id="5" name="Rectangle 4"/>
          <p:cNvSpPr/>
          <p:nvPr/>
        </p:nvSpPr>
        <p:spPr>
          <a:xfrm>
            <a:off x="868680" y="6327648"/>
            <a:ext cx="10460736" cy="9525"/>
          </a:xfrm>
          <a:prstGeom prst="rect">
            <a:avLst/>
          </a:prstGeom>
          <a:solidFill>
            <a:srgbClr val="DFDA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0" y="6419088"/>
            <a:ext cx="1271016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000" b="0">
                <a:solidFill>
                  <a:srgbClr val="5D5772"/>
                </a:solidFill>
                <a:latin typeface="Segoe UI"/>
              </a:rPr>
              <a:t>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" y="1810512"/>
            <a:ext cx="36576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350" b="1">
                <a:solidFill>
                  <a:srgbClr val="6D28D9"/>
                </a:solidFill>
                <a:latin typeface="Consolas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89304" y="1810512"/>
            <a:ext cx="48463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400" b="0">
                <a:solidFill>
                  <a:srgbClr val="171421"/>
                </a:solidFill>
                <a:latin typeface="Segoe UI"/>
              </a:rPr>
              <a:t>Otevření webu a ověření URL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355080" y="1810512"/>
            <a:ext cx="493776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300" b="0">
                <a:solidFill>
                  <a:srgbClr val="6D28D9"/>
                </a:solidFill>
                <a:latin typeface="Consolas"/>
              </a:rPr>
              <a:t>HomePage.goto() → isLoaded()</a:t>
            </a:r>
          </a:p>
        </p:txBody>
      </p:sp>
      <p:sp>
        <p:nvSpPr>
          <p:cNvPr id="10" name="Rectangle 9"/>
          <p:cNvSpPr/>
          <p:nvPr/>
        </p:nvSpPr>
        <p:spPr>
          <a:xfrm>
            <a:off x="868680" y="2231136"/>
            <a:ext cx="10460736" cy="6350"/>
          </a:xfrm>
          <a:prstGeom prst="rect">
            <a:avLst/>
          </a:prstGeom>
          <a:solidFill>
            <a:srgbClr val="DFDA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68680" y="2286000"/>
            <a:ext cx="36576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350" b="1">
                <a:solidFill>
                  <a:srgbClr val="6D28D9"/>
                </a:solidFill>
                <a:latin typeface="Consolas"/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289304" y="2286000"/>
            <a:ext cx="48463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400" b="0">
                <a:solidFill>
                  <a:srgbClr val="171421"/>
                </a:solidFill>
                <a:latin typeface="Segoe UI"/>
              </a:rPr>
              <a:t>Dynamický výběr produktu z mřížky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355080" y="2286000"/>
            <a:ext cx="493776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300" b="0">
                <a:solidFill>
                  <a:srgbClr val="6D28D9"/>
                </a:solidFill>
                <a:latin typeface="Consolas"/>
              </a:rPr>
              <a:t>HomePage.selectProduct(name)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68680" y="2706624"/>
            <a:ext cx="10460736" cy="6350"/>
          </a:xfrm>
          <a:prstGeom prst="rect">
            <a:avLst/>
          </a:prstGeom>
          <a:solidFill>
            <a:srgbClr val="DFDA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68680" y="2761488"/>
            <a:ext cx="36576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350" b="1">
                <a:solidFill>
                  <a:srgbClr val="6D28D9"/>
                </a:solidFill>
                <a:latin typeface="Consolas"/>
              </a:rP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289304" y="2761488"/>
            <a:ext cx="48463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400" b="0">
                <a:solidFill>
                  <a:srgbClr val="171421"/>
                </a:solidFill>
                <a:latin typeface="Segoe UI"/>
              </a:rPr>
              <a:t>Detail produktu: URL a shoda názvu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355080" y="2761488"/>
            <a:ext cx="493776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300" b="0">
                <a:solidFill>
                  <a:srgbClr val="6D28D9"/>
                </a:solidFill>
                <a:latin typeface="Consolas"/>
              </a:rPr>
              <a:t>ProductDetailPage.isLoadedFor(name)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68680" y="3182112"/>
            <a:ext cx="10460736" cy="6350"/>
          </a:xfrm>
          <a:prstGeom prst="rect">
            <a:avLst/>
          </a:prstGeom>
          <a:solidFill>
            <a:srgbClr val="DFDA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68680" y="3236976"/>
            <a:ext cx="36576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350" b="1">
                <a:solidFill>
                  <a:srgbClr val="6D28D9"/>
                </a:solidFill>
                <a:latin typeface="Consolas"/>
              </a:rPr>
              <a:t>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289304" y="3236976"/>
            <a:ext cx="48463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400" b="0">
                <a:solidFill>
                  <a:srgbClr val="171421"/>
                </a:solidFill>
                <a:latin typeface="Segoe UI"/>
              </a:rPr>
              <a:t>Add to cart a asynchronní dialog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355080" y="3236976"/>
            <a:ext cx="493776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300" b="0">
                <a:solidFill>
                  <a:srgbClr val="6D28D9"/>
                </a:solidFill>
                <a:latin typeface="Consolas"/>
              </a:rPr>
              <a:t>ProductDetailPage.addToCart()</a:t>
            </a:r>
          </a:p>
        </p:txBody>
      </p:sp>
      <p:sp>
        <p:nvSpPr>
          <p:cNvPr id="22" name="Rectangle 21"/>
          <p:cNvSpPr/>
          <p:nvPr/>
        </p:nvSpPr>
        <p:spPr>
          <a:xfrm>
            <a:off x="868680" y="3657600"/>
            <a:ext cx="10460736" cy="6350"/>
          </a:xfrm>
          <a:prstGeom prst="rect">
            <a:avLst/>
          </a:prstGeom>
          <a:solidFill>
            <a:srgbClr val="DFDA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68680" y="3712464"/>
            <a:ext cx="36576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350" b="1">
                <a:solidFill>
                  <a:srgbClr val="6D28D9"/>
                </a:solidFill>
                <a:latin typeface="Consolas"/>
              </a:rPr>
              <a:t>5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289304" y="3712464"/>
            <a:ext cx="48463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400" b="0">
                <a:solidFill>
                  <a:srgbClr val="171421"/>
                </a:solidFill>
                <a:latin typeface="Segoe UI"/>
              </a:rPr>
              <a:t>Přechod do košíku navigační lištou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355080" y="3712464"/>
            <a:ext cx="493776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300" b="0">
                <a:solidFill>
                  <a:srgbClr val="6D28D9"/>
                </a:solidFill>
                <a:latin typeface="Consolas"/>
              </a:rPr>
              <a:t>NavigationHeader.goToCart()</a:t>
            </a:r>
          </a:p>
        </p:txBody>
      </p:sp>
      <p:sp>
        <p:nvSpPr>
          <p:cNvPr id="26" name="Rectangle 25"/>
          <p:cNvSpPr/>
          <p:nvPr/>
        </p:nvSpPr>
        <p:spPr>
          <a:xfrm>
            <a:off x="868680" y="4133088"/>
            <a:ext cx="10460736" cy="6350"/>
          </a:xfrm>
          <a:prstGeom prst="rect">
            <a:avLst/>
          </a:prstGeom>
          <a:solidFill>
            <a:srgbClr val="DFDA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68680" y="4187952"/>
            <a:ext cx="36576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350" b="1">
                <a:solidFill>
                  <a:srgbClr val="6D28D9"/>
                </a:solidFill>
                <a:latin typeface="Consolas"/>
              </a:rPr>
              <a:t>6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289304" y="4187952"/>
            <a:ext cx="48463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400" b="0">
                <a:solidFill>
                  <a:srgbClr val="171421"/>
                </a:solidFill>
                <a:latin typeface="Segoe UI"/>
              </a:rPr>
              <a:t>Košík obsahuje přesně ten produkt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355080" y="4187952"/>
            <a:ext cx="493776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300" b="0">
                <a:solidFill>
                  <a:srgbClr val="6D28D9"/>
                </a:solidFill>
                <a:latin typeface="Consolas"/>
              </a:rPr>
              <a:t>CartPage.isLoaded() + expectOnlyItem()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68680" y="4864608"/>
            <a:ext cx="10460736" cy="10972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30000"/>
              </a:lnSpc>
            </a:pPr>
            <a:r>
              <a:rPr sz="1350" b="0">
                <a:solidFill>
                  <a:srgbClr val="171421"/>
                </a:solidFill>
                <a:latin typeface="Segoe UI"/>
              </a:rPr>
              <a:t>Stejné členění nese i HTML report: </a:t>
            </a:r>
            <a:r>
              <a:rPr sz="1350" b="1">
                <a:solidFill>
                  <a:srgbClr val="6D28D9"/>
                </a:solidFill>
                <a:latin typeface="Segoe UI"/>
              </a:rPr>
              <a:t>každý krok je test.step</a:t>
            </a:r>
            <a:r>
              <a:rPr sz="1350" b="0">
                <a:solidFill>
                  <a:srgbClr val="171421"/>
                </a:solidFill>
                <a:latin typeface="Segoe UI"/>
              </a:rPr>
              <a:t>, takže výstup z běhu se čte jedna ku jedné proti zadání — a při selhání je hned vidět, který krok spadl.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7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868680" y="566928"/>
            <a:ext cx="45720" cy="786384"/>
          </a:xfrm>
          <a:prstGeom prst="rect">
            <a:avLst/>
          </a:prstGeom>
          <a:solidFill>
            <a:srgbClr val="6D28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115568" y="548640"/>
            <a:ext cx="10460736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050" b="1" spc="160">
                <a:solidFill>
                  <a:srgbClr val="6D28D9"/>
                </a:solidFill>
                <a:latin typeface="Segoe UI"/>
              </a:rPr>
              <a:t>JÁDRO ZADÁNÍ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15568" y="822960"/>
            <a:ext cx="10460736" cy="5669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3000" b="1">
                <a:solidFill>
                  <a:srgbClr val="171421"/>
                </a:solidFill>
                <a:latin typeface="Segoe UI"/>
              </a:rPr>
              <a:t>Žádné statické sleepy</a:t>
            </a:r>
          </a:p>
        </p:txBody>
      </p:sp>
      <p:sp>
        <p:nvSpPr>
          <p:cNvPr id="5" name="Rectangle 4"/>
          <p:cNvSpPr/>
          <p:nvPr/>
        </p:nvSpPr>
        <p:spPr>
          <a:xfrm>
            <a:off x="868680" y="6327648"/>
            <a:ext cx="10460736" cy="9525"/>
          </a:xfrm>
          <a:prstGeom prst="rect">
            <a:avLst/>
          </a:prstGeom>
          <a:solidFill>
            <a:srgbClr val="DFDA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0" y="6419088"/>
            <a:ext cx="1271016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000" b="0">
                <a:solidFill>
                  <a:srgbClr val="5D5772"/>
                </a:solidFill>
                <a:latin typeface="Segoe UI"/>
              </a:rPr>
              <a:t>4</a:t>
            </a:r>
          </a:p>
        </p:txBody>
      </p:sp>
      <p:sp>
        <p:nvSpPr>
          <p:cNvPr id="7" name="Rectangle 6"/>
          <p:cNvSpPr/>
          <p:nvPr/>
        </p:nvSpPr>
        <p:spPr>
          <a:xfrm>
            <a:off x="868680" y="1737360"/>
            <a:ext cx="10460736" cy="1924812"/>
          </a:xfrm>
          <a:prstGeom prst="rect">
            <a:avLst/>
          </a:prstGeom>
          <a:solidFill>
            <a:srgbClr val="1B1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88136" y="1938528"/>
            <a:ext cx="10021824" cy="161391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30000"/>
              </a:lnSpc>
            </a:pPr>
            <a:r>
              <a:rPr sz="1250" b="0">
                <a:solidFill>
                  <a:srgbClr val="8F87A5"/>
                </a:solidFill>
                <a:latin typeface="Consolas"/>
              </a:rPr>
              <a:t>/** Klikne na 'Add to cart' a přijme potvrzovací alert. */</a:t>
            </a:r>
          </a:p>
          <a:p>
            <a:pPr>
              <a:lnSpc>
                <a:spcPct val="130000"/>
              </a:lnSpc>
            </a:pPr>
            <a:r>
              <a:rPr sz="1250" b="0">
                <a:solidFill>
                  <a:srgbClr val="EDE9F5"/>
                </a:solidFill>
                <a:latin typeface="Consolas"/>
              </a:rPr>
              <a:t>async addToCart(): Promise&lt;void&gt; {</a:t>
            </a:r>
          </a:p>
          <a:p>
            <a:pPr>
              <a:lnSpc>
                <a:spcPct val="130000"/>
              </a:lnSpc>
            </a:pPr>
            <a:r>
              <a:rPr sz="1250" b="0">
                <a:solidFill>
                  <a:srgbClr val="C4B5FD"/>
                </a:solidFill>
                <a:latin typeface="Consolas"/>
              </a:rPr>
              <a:t>  const dialogPromise = this.page.waitForEvent('dialog');   // PŘED klikem</a:t>
            </a:r>
          </a:p>
          <a:p>
            <a:pPr>
              <a:lnSpc>
                <a:spcPct val="130000"/>
              </a:lnSpc>
            </a:pPr>
            <a:r>
              <a:rPr sz="1250" b="0">
                <a:solidFill>
                  <a:srgbClr val="EDE9F5"/>
                </a:solidFill>
                <a:latin typeface="Consolas"/>
              </a:rPr>
              <a:t>  await this.page.getByRole('link', { name: 'Add to cart' }).click();</a:t>
            </a:r>
          </a:p>
          <a:p>
            <a:pPr>
              <a:lnSpc>
                <a:spcPct val="130000"/>
              </a:lnSpc>
            </a:pPr>
            <a:r>
              <a:rPr sz="1250" b="0">
                <a:solidFill>
                  <a:srgbClr val="EDE9F5"/>
                </a:solidFill>
                <a:latin typeface="Consolas"/>
              </a:rPr>
              <a:t>  const dialog = await dialogPromise;</a:t>
            </a:r>
          </a:p>
          <a:p>
            <a:pPr>
              <a:lnSpc>
                <a:spcPct val="130000"/>
              </a:lnSpc>
            </a:pPr>
            <a:r>
              <a:rPr sz="1250" b="0">
                <a:solidFill>
                  <a:srgbClr val="EDE9F5"/>
                </a:solidFill>
                <a:latin typeface="Consolas"/>
              </a:rPr>
              <a:t>  await dialog.accept();</a:t>
            </a:r>
          </a:p>
          <a:p>
            <a:pPr>
              <a:lnSpc>
                <a:spcPct val="130000"/>
              </a:lnSpc>
            </a:pPr>
            <a:r>
              <a:rPr sz="1250" b="0">
                <a:solidFill>
                  <a:srgbClr val="EDE9F5"/>
                </a:solidFill>
                <a:latin typeface="Consolas"/>
              </a:rPr>
              <a:t>}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3858768"/>
            <a:ext cx="10460736" cy="240487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8000"/>
              </a:lnSpc>
              <a:spcAft>
                <a:spcPts val="734"/>
              </a:spcAft>
            </a:pPr>
            <a:r>
              <a:rPr sz="1500" b="1">
                <a:solidFill>
                  <a:srgbClr val="171421"/>
                </a:solidFill>
                <a:latin typeface="Segoe UI"/>
              </a:rPr>
              <a:t>Handler registrovaný před klikem. </a:t>
            </a:r>
            <a:r>
              <a:rPr sz="1500" b="0">
                <a:solidFill>
                  <a:srgbClr val="5D5772"/>
                </a:solidFill>
                <a:latin typeface="Segoe UI"/>
              </a:rPr>
              <a:t>Mezi klikem a dialogem tak není závod — Playwright klik dokončí až po odbavení dialogu.</a:t>
            </a:r>
          </a:p>
          <a:p>
            <a:pPr>
              <a:lnSpc>
                <a:spcPct val="128000"/>
              </a:lnSpc>
              <a:spcAft>
                <a:spcPts val="734"/>
              </a:spcAft>
            </a:pPr>
            <a:r>
              <a:rPr sz="1500" b="1">
                <a:solidFill>
                  <a:srgbClr val="171421"/>
                </a:solidFill>
                <a:latin typeface="Segoe UI"/>
              </a:rPr>
              <a:t>Všechno ostatní čekání jsou auto-retry assertions. </a:t>
            </a:r>
            <a:r>
              <a:rPr sz="1500" b="0">
                <a:solidFill>
                  <a:srgbClr val="5D5772"/>
                </a:solidFill>
                <a:latin typeface="Segoe UI"/>
              </a:rPr>
              <a:t>toHaveURL, toBeVisible, toHaveText — pollují, dokud podmínka neplatí.</a:t>
            </a:r>
          </a:p>
          <a:p>
            <a:pPr>
              <a:lnSpc>
                <a:spcPct val="128000"/>
              </a:lnSpc>
              <a:spcAft>
                <a:spcPts val="734"/>
              </a:spcAft>
            </a:pPr>
            <a:r>
              <a:rPr sz="1500" b="1">
                <a:solidFill>
                  <a:srgbClr val="171421"/>
                </a:solidFill>
                <a:latin typeface="Segoe UI"/>
              </a:rPr>
              <a:t>Ověřeno, ne tvrzeno. </a:t>
            </a:r>
            <a:r>
              <a:rPr sz="1500" b="0">
                <a:solidFill>
                  <a:srgbClr val="5D5772"/>
                </a:solidFill>
                <a:latin typeface="Segoe UI"/>
              </a:rPr>
              <a:t>grep na waitForTimeout | setTimeout | sleep( | Thread.sleep napříč repem → nula výskytů.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7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868680" y="566928"/>
            <a:ext cx="45720" cy="786384"/>
          </a:xfrm>
          <a:prstGeom prst="rect">
            <a:avLst/>
          </a:prstGeom>
          <a:solidFill>
            <a:srgbClr val="6D28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115568" y="548640"/>
            <a:ext cx="10460736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050" b="1" spc="160">
                <a:solidFill>
                  <a:srgbClr val="6D28D9"/>
                </a:solidFill>
                <a:latin typeface="Segoe UI"/>
              </a:rPr>
              <a:t>CO MĚ TO NAUČILO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15568" y="822960"/>
            <a:ext cx="10460736" cy="5669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3000" b="1">
                <a:solidFill>
                  <a:srgbClr val="171421"/>
                </a:solidFill>
                <a:latin typeface="Segoe UI"/>
              </a:rPr>
              <a:t>Guard musí znamenat, co říká</a:t>
            </a:r>
          </a:p>
        </p:txBody>
      </p:sp>
      <p:sp>
        <p:nvSpPr>
          <p:cNvPr id="5" name="Rectangle 4"/>
          <p:cNvSpPr/>
          <p:nvPr/>
        </p:nvSpPr>
        <p:spPr>
          <a:xfrm>
            <a:off x="868680" y="6327648"/>
            <a:ext cx="10460736" cy="9525"/>
          </a:xfrm>
          <a:prstGeom prst="rect">
            <a:avLst/>
          </a:prstGeom>
          <a:solidFill>
            <a:srgbClr val="DFDA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0" y="6419088"/>
            <a:ext cx="1271016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000" b="0">
                <a:solidFill>
                  <a:srgbClr val="5D5772"/>
                </a:solidFill>
                <a:latin typeface="Segoe UI"/>
              </a:rPr>
              <a:t>5</a:t>
            </a:r>
          </a:p>
        </p:txBody>
      </p:sp>
      <p:sp>
        <p:nvSpPr>
          <p:cNvPr id="7" name="Rectangle 6"/>
          <p:cNvSpPr/>
          <p:nvPr/>
        </p:nvSpPr>
        <p:spPr>
          <a:xfrm>
            <a:off x="868680" y="1737360"/>
            <a:ext cx="5102352" cy="1975104"/>
          </a:xfrm>
          <a:prstGeom prst="rect">
            <a:avLst/>
          </a:prstGeom>
          <a:solidFill>
            <a:srgbClr val="F0EC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868680" y="1737360"/>
            <a:ext cx="41148" cy="1975104"/>
          </a:xfrm>
          <a:prstGeom prst="rect">
            <a:avLst/>
          </a:prstGeom>
          <a:solidFill>
            <a:srgbClr val="B4530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61288" y="1975104"/>
            <a:ext cx="4553712" cy="16093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500" b="1">
                <a:solidFill>
                  <a:srgbClr val="171421"/>
                </a:solidFill>
                <a:latin typeface="Segoe UI"/>
              </a:rPr>
              <a:t>HomePage: procházel na prázdné stránce</a:t>
            </a:r>
          </a:p>
          <a:p>
            <a:pPr>
              <a:lnSpc>
                <a:spcPct val="126000"/>
              </a:lnSpc>
              <a:spcBef>
                <a:spcPts val="500"/>
              </a:spcBef>
            </a:pPr>
            <a:r>
              <a:rPr sz="1250" b="0">
                <a:solidFill>
                  <a:srgbClr val="5D5772"/>
                </a:solidFill>
                <a:latin typeface="Segoe UI"/>
              </a:rPr>
              <a:t>Guard kotvil na textu CATEGORIES.</a:t>
            </a:r>
          </a:p>
          <a:p>
            <a:pPr>
              <a:lnSpc>
                <a:spcPct val="126000"/>
              </a:lnSpc>
              <a:spcBef>
                <a:spcPts val="500"/>
              </a:spcBef>
            </a:pPr>
            <a:r>
              <a:rPr sz="1250" b="0">
                <a:solidFill>
                  <a:srgbClr val="5D5772"/>
                </a:solidFill>
                <a:latin typeface="Segoe UI"/>
              </a:rPr>
              <a:t>Jenže ten je v serveovaném HTML — je tam dřív,</a:t>
            </a:r>
          </a:p>
          <a:p>
            <a:pPr>
              <a:lnSpc>
                <a:spcPct val="126000"/>
              </a:lnSpc>
              <a:spcBef>
                <a:spcPts val="500"/>
              </a:spcBef>
            </a:pPr>
            <a:r>
              <a:rPr sz="1250" b="0">
                <a:solidFill>
                  <a:srgbClr val="5D5772"/>
                </a:solidFill>
                <a:latin typeface="Segoe UI"/>
              </a:rPr>
              <a:t>než dorazí jakýkoli obsah.</a:t>
            </a:r>
          </a:p>
          <a:p>
            <a:pPr>
              <a:lnSpc>
                <a:spcPct val="126000"/>
              </a:lnSpc>
              <a:spcBef>
                <a:spcPts val="500"/>
              </a:spcBef>
            </a:pPr>
            <a:r>
              <a:rPr sz="1250" b="0">
                <a:solidFill>
                  <a:srgbClr val="5D5772"/>
                </a:solidFill>
                <a:latin typeface="Segoe UI"/>
              </a:rPr>
              <a:t>Teď kotví na kartě produktu z #tbodyid,</a:t>
            </a:r>
          </a:p>
          <a:p>
            <a:pPr>
              <a:lnSpc>
                <a:spcPct val="126000"/>
              </a:lnSpc>
              <a:spcBef>
                <a:spcPts val="500"/>
              </a:spcBef>
            </a:pPr>
            <a:r>
              <a:rPr sz="1250" b="0">
                <a:solidFill>
                  <a:srgbClr val="5D5772"/>
                </a:solidFill>
                <a:latin typeface="Segoe UI"/>
              </a:rPr>
              <a:t>která přichází až asynchronně.</a:t>
            </a:r>
          </a:p>
        </p:txBody>
      </p:sp>
      <p:sp>
        <p:nvSpPr>
          <p:cNvPr id="10" name="Rectangle 9"/>
          <p:cNvSpPr/>
          <p:nvPr/>
        </p:nvSpPr>
        <p:spPr>
          <a:xfrm>
            <a:off x="6227064" y="1737360"/>
            <a:ext cx="5102352" cy="1975104"/>
          </a:xfrm>
          <a:prstGeom prst="rect">
            <a:avLst/>
          </a:prstGeom>
          <a:solidFill>
            <a:srgbClr val="F0EC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227064" y="1737360"/>
            <a:ext cx="41148" cy="1975104"/>
          </a:xfrm>
          <a:prstGeom prst="rect">
            <a:avLst/>
          </a:prstGeom>
          <a:solidFill>
            <a:srgbClr val="B4530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519672" y="1975104"/>
            <a:ext cx="4553712" cy="16093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500" b="1">
                <a:solidFill>
                  <a:srgbClr val="171421"/>
                </a:solidFill>
                <a:latin typeface="Segoe UI"/>
              </a:rPr>
              <a:t>CartPage: nemohl projít nikdy</a:t>
            </a:r>
          </a:p>
          <a:p>
            <a:pPr>
              <a:lnSpc>
                <a:spcPct val="126000"/>
              </a:lnSpc>
              <a:spcBef>
                <a:spcPts val="500"/>
              </a:spcBef>
            </a:pPr>
            <a:r>
              <a:rPr sz="1250" b="0">
                <a:solidFill>
                  <a:srgbClr val="5D5772"/>
                </a:solidFill>
                <a:latin typeface="Segoe UI"/>
              </a:rPr>
              <a:t>Guard kotvil na #tbodyid.</a:t>
            </a:r>
          </a:p>
          <a:p>
            <a:pPr>
              <a:lnSpc>
                <a:spcPct val="126000"/>
              </a:lnSpc>
              <a:spcBef>
                <a:spcPts val="500"/>
              </a:spcBef>
            </a:pPr>
            <a:r>
              <a:rPr sz="1250" b="0">
                <a:solidFill>
                  <a:srgbClr val="5D5772"/>
                </a:solidFill>
                <a:latin typeface="Segoe UI"/>
              </a:rPr>
              <a:t>Prázdný &lt;tbody&gt; nemá box, takže ho Playwright</a:t>
            </a:r>
          </a:p>
          <a:p>
            <a:pPr>
              <a:lnSpc>
                <a:spcPct val="126000"/>
              </a:lnSpc>
              <a:spcBef>
                <a:spcPts val="500"/>
              </a:spcBef>
            </a:pPr>
            <a:r>
              <a:rPr sz="1250" b="0">
                <a:solidFill>
                  <a:srgbClr val="5D5772"/>
                </a:solidFill>
                <a:latin typeface="Segoe UI"/>
              </a:rPr>
              <a:t>hlásí jako hidden — na prázdném košíku</a:t>
            </a:r>
          </a:p>
          <a:p>
            <a:pPr>
              <a:lnSpc>
                <a:spcPct val="126000"/>
              </a:lnSpc>
              <a:spcBef>
                <a:spcPts val="500"/>
              </a:spcBef>
            </a:pPr>
            <a:r>
              <a:rPr sz="1250" b="0">
                <a:solidFill>
                  <a:srgbClr val="5D5772"/>
                </a:solidFill>
                <a:latin typeface="Segoe UI"/>
              </a:rPr>
              <a:t>by guard nikdy neprošel.</a:t>
            </a:r>
          </a:p>
          <a:p>
            <a:pPr>
              <a:lnSpc>
                <a:spcPct val="126000"/>
              </a:lnSpc>
              <a:spcBef>
                <a:spcPts val="500"/>
              </a:spcBef>
            </a:pPr>
            <a:r>
              <a:rPr sz="1250" b="0">
                <a:solidFill>
                  <a:srgbClr val="5D5772"/>
                </a:solidFill>
                <a:latin typeface="Segoe UI"/>
              </a:rPr>
              <a:t>Teď kotví na statický nadpis Products.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68680" y="4005072"/>
            <a:ext cx="10460736" cy="1298448"/>
          </a:xfrm>
          <a:prstGeom prst="rect">
            <a:avLst/>
          </a:prstGeom>
          <a:solidFill>
            <a:srgbClr val="F0EC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868680" y="4005072"/>
            <a:ext cx="41148" cy="1298448"/>
          </a:xfrm>
          <a:prstGeom prst="rect">
            <a:avLst/>
          </a:prstGeom>
          <a:solidFill>
            <a:srgbClr val="6D28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161288" y="4224528"/>
            <a:ext cx="9875520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30000"/>
              </a:lnSpc>
            </a:pPr>
            <a:r>
              <a:rPr sz="1500" b="1">
                <a:solidFill>
                  <a:srgbClr val="171421"/>
                </a:solidFill>
                <a:latin typeface="Segoe UI"/>
              </a:rPr>
              <a:t>Obojí odhalilo až ověření proti reálnému DOM — ne čtení kódu.</a:t>
            </a:r>
          </a:p>
          <a:p>
            <a:pPr>
              <a:lnSpc>
                <a:spcPct val="130000"/>
              </a:lnSpc>
              <a:spcBef>
                <a:spcPts val="600"/>
              </a:spcBef>
            </a:pPr>
            <a:r>
              <a:rPr sz="1350" b="0">
                <a:solidFill>
                  <a:srgbClr val="5D5772"/>
                </a:solidFill>
                <a:latin typeface="Segoe UI"/>
              </a:rPr>
              <a:t>Ani jeden test kvůli tomu nepadal, takže z výsledků běhu se to poznat nedalo. Kód potvrdí, co říká; neřekne, že prvek, na který kotvím, tam byl už před načtením stránky.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7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868680" y="566928"/>
            <a:ext cx="45720" cy="786384"/>
          </a:xfrm>
          <a:prstGeom prst="rect">
            <a:avLst/>
          </a:prstGeom>
          <a:solidFill>
            <a:srgbClr val="6D28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115568" y="548640"/>
            <a:ext cx="10460736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050" b="1" spc="160">
                <a:solidFill>
                  <a:srgbClr val="6D28D9"/>
                </a:solidFill>
                <a:latin typeface="Segoe UI"/>
              </a:rPr>
              <a:t>MĚŘENÍ MÍSTO ODHADU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15568" y="822960"/>
            <a:ext cx="10460736" cy="5669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3000" b="1">
                <a:solidFill>
                  <a:srgbClr val="171421"/>
                </a:solidFill>
                <a:latin typeface="Segoe UI"/>
              </a:rPr>
              <a:t>Timeout se staví na nejhorší případ</a:t>
            </a:r>
          </a:p>
        </p:txBody>
      </p:sp>
      <p:sp>
        <p:nvSpPr>
          <p:cNvPr id="5" name="Rectangle 4"/>
          <p:cNvSpPr/>
          <p:nvPr/>
        </p:nvSpPr>
        <p:spPr>
          <a:xfrm>
            <a:off x="868680" y="6327648"/>
            <a:ext cx="10460736" cy="9525"/>
          </a:xfrm>
          <a:prstGeom prst="rect">
            <a:avLst/>
          </a:prstGeom>
          <a:solidFill>
            <a:srgbClr val="DFDA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0" y="6419088"/>
            <a:ext cx="1271016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000" b="0">
                <a:solidFill>
                  <a:srgbClr val="5D5772"/>
                </a:solidFill>
                <a:latin typeface="Segoe UI"/>
              </a:rPr>
              <a:t>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" y="1700784"/>
            <a:ext cx="10460736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000" b="1" spc="140">
                <a:solidFill>
                  <a:srgbClr val="6D28D9"/>
                </a:solidFill>
                <a:latin typeface="Segoe UI"/>
              </a:rPr>
              <a:t>TÁŽ SUITA, TÁŽ KONFIGURACE, TŘI MĚŘENÍ</a:t>
            </a:r>
          </a:p>
        </p:txBody>
      </p:sp>
      <p:sp>
        <p:nvSpPr>
          <p:cNvPr id="8" name="Rectangle 7"/>
          <p:cNvSpPr/>
          <p:nvPr/>
        </p:nvSpPr>
        <p:spPr>
          <a:xfrm>
            <a:off x="868680" y="2029968"/>
            <a:ext cx="10460736" cy="713232"/>
          </a:xfrm>
          <a:prstGeom prst="rect">
            <a:avLst/>
          </a:prstGeom>
          <a:solidFill>
            <a:srgbClr val="F0EC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868680" y="2029968"/>
            <a:ext cx="41148" cy="713232"/>
          </a:xfrm>
          <a:prstGeom prst="rect">
            <a:avLst/>
          </a:prstGeom>
          <a:solidFill>
            <a:srgbClr val="B4530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61288" y="2249424"/>
            <a:ext cx="310896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400" b="0">
                <a:solidFill>
                  <a:srgbClr val="171421"/>
                </a:solidFill>
                <a:latin typeface="Segoe UI"/>
              </a:rPr>
              <a:t>Pomalý běh, trace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26280" y="2212848"/>
            <a:ext cx="2468880" cy="3291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700" b="1">
                <a:solidFill>
                  <a:srgbClr val="B45309"/>
                </a:solidFill>
                <a:latin typeface="Consolas"/>
              </a:rPr>
              <a:t>2,7 min / test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269480" y="2258568"/>
            <a:ext cx="393192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250" b="0">
                <a:solidFill>
                  <a:srgbClr val="5D5772"/>
                </a:solidFill>
                <a:latin typeface="Segoe UI"/>
              </a:rPr>
              <a:t>requesty 17–36 s, scénář ~155 s čekání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68680" y="2816352"/>
            <a:ext cx="10460736" cy="713232"/>
          </a:xfrm>
          <a:prstGeom prst="rect">
            <a:avLst/>
          </a:prstGeom>
          <a:solidFill>
            <a:srgbClr val="E9FB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868680" y="2816352"/>
            <a:ext cx="41148" cy="713232"/>
          </a:xfrm>
          <a:prstGeom prst="rect">
            <a:avLst/>
          </a:prstGeom>
          <a:solidFill>
            <a:srgbClr val="4ADE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161288" y="3035808"/>
            <a:ext cx="310896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400" b="0">
                <a:solidFill>
                  <a:srgbClr val="171421"/>
                </a:solidFill>
                <a:latin typeface="Segoe UI"/>
              </a:rPr>
              <a:t>Týž stroj, později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26280" y="2999232"/>
            <a:ext cx="2468880" cy="3291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700" b="1">
                <a:solidFill>
                  <a:srgbClr val="157F45"/>
                </a:solidFill>
                <a:latin typeface="Consolas"/>
              </a:rPr>
              <a:t>13 s / test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269480" y="3044952"/>
            <a:ext cx="393192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250" b="0">
                <a:solidFill>
                  <a:srgbClr val="5D5772"/>
                </a:solidFill>
                <a:latin typeface="Segoe UI"/>
              </a:rPr>
              <a:t>beze změny konfigurace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68680" y="3602736"/>
            <a:ext cx="10460736" cy="713232"/>
          </a:xfrm>
          <a:prstGeom prst="rect">
            <a:avLst/>
          </a:prstGeom>
          <a:solidFill>
            <a:srgbClr val="E9FB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868680" y="3602736"/>
            <a:ext cx="41148" cy="713232"/>
          </a:xfrm>
          <a:prstGeom prst="rect">
            <a:avLst/>
          </a:prstGeom>
          <a:solidFill>
            <a:srgbClr val="4ADE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161288" y="3822192"/>
            <a:ext cx="310896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400" b="0">
                <a:solidFill>
                  <a:srgbClr val="171421"/>
                </a:solidFill>
                <a:latin typeface="Segoe UI"/>
              </a:rPr>
              <a:t>GitHub runner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26280" y="3785616"/>
            <a:ext cx="2468880" cy="3291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700" b="1">
                <a:solidFill>
                  <a:srgbClr val="157F45"/>
                </a:solidFill>
                <a:latin typeface="Consolas"/>
              </a:rPr>
              <a:t>6 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269480" y="3831336"/>
            <a:ext cx="393192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250" b="0">
                <a:solidFill>
                  <a:srgbClr val="5D5772"/>
                </a:solidFill>
                <a:latin typeface="Segoe UI"/>
              </a:rPr>
              <a:t>celý krok Run UI tests</a:t>
            </a:r>
          </a:p>
        </p:txBody>
      </p:sp>
      <p:sp>
        <p:nvSpPr>
          <p:cNvPr id="23" name="Rectangle 22"/>
          <p:cNvSpPr/>
          <p:nvPr/>
        </p:nvSpPr>
        <p:spPr>
          <a:xfrm>
            <a:off x="868680" y="4443984"/>
            <a:ext cx="10460736" cy="867582"/>
          </a:xfrm>
          <a:prstGeom prst="rect">
            <a:avLst/>
          </a:prstGeom>
          <a:solidFill>
            <a:srgbClr val="1B1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088136" y="4645152"/>
            <a:ext cx="10021824" cy="55668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30000"/>
              </a:lnSpc>
            </a:pPr>
            <a:r>
              <a:rPr sz="1300" b="0">
                <a:solidFill>
                  <a:srgbClr val="EDE9F5"/>
                </a:solidFill>
                <a:latin typeface="Consolas"/>
              </a:rPr>
              <a:t>timeout: 300_000,            // musí přežít nejhorší pozorovaný scénář</a:t>
            </a:r>
          </a:p>
          <a:p>
            <a:pPr>
              <a:lnSpc>
                <a:spcPct val="130000"/>
              </a:lnSpc>
            </a:pPr>
            <a:r>
              <a:rPr sz="1300" b="0">
                <a:solidFill>
                  <a:srgbClr val="EDE9F5"/>
                </a:solidFill>
                <a:latin typeface="Consolas"/>
              </a:rPr>
              <a:t>expect: { timeout: 120_000 } // košík je řetěz dvou requestů, ~70 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68680" y="5394960"/>
            <a:ext cx="10460736" cy="8686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8000"/>
              </a:lnSpc>
              <a:spcAft>
                <a:spcPts val="734"/>
              </a:spcAft>
            </a:pPr>
            <a:r>
              <a:rPr sz="1350" b="1">
                <a:solidFill>
                  <a:srgbClr val="171421"/>
                </a:solidFill>
                <a:latin typeface="Segoe UI"/>
              </a:rPr>
              <a:t>Ta variabilita je ten problém. </a:t>
            </a:r>
            <a:r>
              <a:rPr sz="1350" b="0">
                <a:solidFill>
                  <a:srgbClr val="5D5772"/>
                </a:solidFill>
                <a:latin typeface="Segoe UI"/>
              </a:rPr>
              <a:t>Ne pomalost. Kdo staví timeout na typický případ, staví ho na 13 s — a v pomalé hodině má červenou suitu.</a:t>
            </a:r>
          </a:p>
          <a:p>
            <a:pPr>
              <a:lnSpc>
                <a:spcPct val="128000"/>
              </a:lnSpc>
              <a:spcAft>
                <a:spcPts val="734"/>
              </a:spcAft>
            </a:pPr>
            <a:r>
              <a:rPr sz="1350" b="1">
                <a:solidFill>
                  <a:srgbClr val="171421"/>
                </a:solidFill>
                <a:latin typeface="Segoe UI"/>
              </a:rPr>
              <a:t>Strop, ne prodleva. </a:t>
            </a:r>
            <a:r>
              <a:rPr sz="1350" b="0">
                <a:solidFill>
                  <a:srgbClr val="5D5772"/>
                </a:solidFill>
                <a:latin typeface="Segoe UI"/>
              </a:rPr>
              <a:t>Důkaz je v tabulce: stejná konfigurace doběhne za 6 sekund, když je web rychlý.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7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868680" y="566928"/>
            <a:ext cx="45720" cy="786384"/>
          </a:xfrm>
          <a:prstGeom prst="rect">
            <a:avLst/>
          </a:prstGeom>
          <a:solidFill>
            <a:srgbClr val="6D28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115568" y="548640"/>
            <a:ext cx="10460736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050" b="1" spc="160">
                <a:solidFill>
                  <a:srgbClr val="6D28D9"/>
                </a:solidFill>
                <a:latin typeface="Segoe UI"/>
              </a:rPr>
              <a:t>API VRSTVA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15568" y="822960"/>
            <a:ext cx="10460736" cy="5669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3000" b="1">
                <a:solidFill>
                  <a:srgbClr val="171421"/>
                </a:solidFill>
                <a:latin typeface="Segoe UI"/>
              </a:rPr>
              <a:t>Typy, které skutečně něco hlídají</a:t>
            </a:r>
          </a:p>
        </p:txBody>
      </p:sp>
      <p:sp>
        <p:nvSpPr>
          <p:cNvPr id="5" name="Rectangle 4"/>
          <p:cNvSpPr/>
          <p:nvPr/>
        </p:nvSpPr>
        <p:spPr>
          <a:xfrm>
            <a:off x="868680" y="6327648"/>
            <a:ext cx="10460736" cy="9525"/>
          </a:xfrm>
          <a:prstGeom prst="rect">
            <a:avLst/>
          </a:prstGeom>
          <a:solidFill>
            <a:srgbClr val="DFDA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0" y="6419088"/>
            <a:ext cx="1271016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000" b="0">
                <a:solidFill>
                  <a:srgbClr val="5D5772"/>
                </a:solidFill>
                <a:latin typeface="Segoe UI"/>
              </a:rPr>
              <a:t>7</a:t>
            </a:r>
          </a:p>
        </p:txBody>
      </p:sp>
      <p:sp>
        <p:nvSpPr>
          <p:cNvPr id="7" name="Rectangle 6"/>
          <p:cNvSpPr/>
          <p:nvPr/>
        </p:nvSpPr>
        <p:spPr>
          <a:xfrm>
            <a:off x="868680" y="1737360"/>
            <a:ext cx="10460736" cy="1709928"/>
          </a:xfrm>
          <a:prstGeom prst="rect">
            <a:avLst/>
          </a:prstGeom>
          <a:solidFill>
            <a:srgbClr val="1B1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88136" y="1938528"/>
            <a:ext cx="10021824" cy="1399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30000"/>
              </a:lnSpc>
            </a:pPr>
            <a:r>
              <a:rPr sz="1250" b="0">
                <a:solidFill>
                  <a:srgbClr val="EDE9F5"/>
                </a:solidFill>
                <a:latin typeface="Consolas"/>
              </a:rPr>
              <a:t>const response = await bookingApiClient.createBooking(bookingData);</a:t>
            </a:r>
          </a:p>
          <a:p>
            <a:pPr>
              <a:lnSpc>
                <a:spcPct val="130000"/>
              </a:lnSpc>
            </a:pPr>
            <a:r>
              <a:rPr sz="1250" b="0">
                <a:solidFill>
                  <a:srgbClr val="EDE9F5"/>
                </a:solidFill>
                <a:latin typeface="Consolas"/>
              </a:rPr>
              <a:t>expect(response.status()).toBe(200);</a:t>
            </a:r>
          </a:p>
          <a:p>
            <a:pPr>
              <a:lnSpc>
                <a:spcPct val="130000"/>
              </a:lnSpc>
            </a:pPr>
            <a:r>
              <a:rPr sz="1250" b="0">
                <a:solidFill>
                  <a:srgbClr val="EDE9F5"/>
                </a:solidFill>
                <a:latin typeface="Consolas"/>
              </a:rPr>
              <a:t> </a:t>
            </a:r>
          </a:p>
          <a:p>
            <a:pPr>
              <a:lnSpc>
                <a:spcPct val="130000"/>
              </a:lnSpc>
            </a:pPr>
            <a:r>
              <a:rPr sz="1250" b="0">
                <a:solidFill>
                  <a:srgbClr val="C4B5FD"/>
                </a:solidFill>
                <a:latin typeface="Consolas"/>
              </a:rPr>
              <a:t>const body: CreateBookingResponse = await response.json();</a:t>
            </a:r>
          </a:p>
          <a:p>
            <a:pPr>
              <a:lnSpc>
                <a:spcPct val="130000"/>
              </a:lnSpc>
            </a:pPr>
            <a:r>
              <a:rPr sz="1250" b="0">
                <a:solidFill>
                  <a:srgbClr val="EDE9F5"/>
                </a:solidFill>
                <a:latin typeface="Consolas"/>
              </a:rPr>
              <a:t>expect(body.bookingid).toEqual(expect.any(Number));</a:t>
            </a:r>
          </a:p>
          <a:p>
            <a:pPr>
              <a:lnSpc>
                <a:spcPct val="130000"/>
              </a:lnSpc>
            </a:pPr>
            <a:r>
              <a:rPr sz="1250" b="0">
                <a:solidFill>
                  <a:srgbClr val="EDE9F5"/>
                </a:solidFill>
                <a:latin typeface="Consolas"/>
              </a:rPr>
              <a:t>expect(body.booking).toEqual(bookingData);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3749039"/>
            <a:ext cx="10460736" cy="2514601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8000"/>
              </a:lnSpc>
              <a:spcAft>
                <a:spcPts val="734"/>
              </a:spcAft>
            </a:pPr>
            <a:r>
              <a:rPr sz="1500" b="1">
                <a:solidFill>
                  <a:srgbClr val="171421"/>
                </a:solidFill>
                <a:latin typeface="Segoe UI"/>
              </a:rPr>
              <a:t>BookingApiClient obaluje APIRequestContext. </a:t>
            </a:r>
            <a:r>
              <a:rPr sz="1500" b="0">
                <a:solidFill>
                  <a:srgbClr val="5D5772"/>
                </a:solidFill>
                <a:latin typeface="Segoe UI"/>
              </a:rPr>
              <a:t>Endpointy a hlavičky nejsou ve specu — stejná separace, jakou dává POM na UI straně.</a:t>
            </a:r>
          </a:p>
          <a:p>
            <a:pPr>
              <a:lnSpc>
                <a:spcPct val="128000"/>
              </a:lnSpc>
              <a:spcAft>
                <a:spcPts val="734"/>
              </a:spcAft>
            </a:pPr>
            <a:r>
              <a:rPr sz="1500" b="1">
                <a:solidFill>
                  <a:srgbClr val="171421"/>
                </a:solidFill>
                <a:latin typeface="Segoe UI"/>
              </a:rPr>
              <a:t>BookingData, CreateBookingResponse, GetBookingResponse. </a:t>
            </a:r>
            <a:r>
              <a:rPr sz="1500" b="0">
                <a:solidFill>
                  <a:srgbClr val="5D5772"/>
                </a:solidFill>
                <a:latin typeface="Segoe UI"/>
              </a:rPr>
              <a:t>Typované jsou obě strany, request i response, jak zadání explicitně žádá.</a:t>
            </a:r>
          </a:p>
          <a:p>
            <a:pPr>
              <a:lnSpc>
                <a:spcPct val="128000"/>
              </a:lnSpc>
              <a:spcAft>
                <a:spcPts val="734"/>
              </a:spcAft>
            </a:pPr>
            <a:r>
              <a:rPr sz="1500" b="1">
                <a:solidFill>
                  <a:srgbClr val="171421"/>
                </a:solidFill>
                <a:latin typeface="Segoe UI"/>
              </a:rPr>
              <a:t>Typy jsou použité, ne jen deklarované. </a:t>
            </a:r>
            <a:r>
              <a:rPr sz="1500" b="0">
                <a:solidFill>
                  <a:srgbClr val="5D5772"/>
                </a:solidFill>
                <a:latin typeface="Segoe UI"/>
              </a:rPr>
              <a:t>Bez anotace vrací response.json() any a kontrola tiše zmizí. Tohle byl reálný nález při revizi.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7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868680" y="566928"/>
            <a:ext cx="45720" cy="786384"/>
          </a:xfrm>
          <a:prstGeom prst="rect">
            <a:avLst/>
          </a:prstGeom>
          <a:solidFill>
            <a:srgbClr val="6D28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115568" y="548640"/>
            <a:ext cx="10460736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050" b="1" spc="160">
                <a:solidFill>
                  <a:srgbClr val="6D28D9"/>
                </a:solidFill>
                <a:latin typeface="Segoe UI"/>
              </a:rPr>
              <a:t>CI/CD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15568" y="822960"/>
            <a:ext cx="10460736" cy="5669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3000" b="1">
                <a:solidFill>
                  <a:srgbClr val="171421"/>
                </a:solidFill>
                <a:latin typeface="Segoe UI"/>
              </a:rPr>
              <a:t>Dva joby, každý jen s tím, co potřebuje</a:t>
            </a:r>
          </a:p>
        </p:txBody>
      </p:sp>
      <p:sp>
        <p:nvSpPr>
          <p:cNvPr id="5" name="Rectangle 4"/>
          <p:cNvSpPr/>
          <p:nvPr/>
        </p:nvSpPr>
        <p:spPr>
          <a:xfrm>
            <a:off x="868680" y="6327648"/>
            <a:ext cx="10460736" cy="9525"/>
          </a:xfrm>
          <a:prstGeom prst="rect">
            <a:avLst/>
          </a:prstGeom>
          <a:solidFill>
            <a:srgbClr val="DFDA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0" y="6419088"/>
            <a:ext cx="1271016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000" b="0">
                <a:solidFill>
                  <a:srgbClr val="5D5772"/>
                </a:solidFill>
                <a:latin typeface="Segoe UI"/>
              </a:rPr>
              <a:t>8</a:t>
            </a:r>
          </a:p>
        </p:txBody>
      </p:sp>
      <p:sp>
        <p:nvSpPr>
          <p:cNvPr id="7" name="Rectangle 6"/>
          <p:cNvSpPr/>
          <p:nvPr/>
        </p:nvSpPr>
        <p:spPr>
          <a:xfrm>
            <a:off x="868680" y="1737360"/>
            <a:ext cx="5102352" cy="1773936"/>
          </a:xfrm>
          <a:prstGeom prst="rect">
            <a:avLst/>
          </a:prstGeom>
          <a:solidFill>
            <a:srgbClr val="F0EC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868680" y="1737360"/>
            <a:ext cx="41148" cy="1773936"/>
          </a:xfrm>
          <a:prstGeom prst="rect">
            <a:avLst/>
          </a:prstGeom>
          <a:solidFill>
            <a:srgbClr val="6D28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61288" y="1975104"/>
            <a:ext cx="4553712" cy="140817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500" b="1">
                <a:solidFill>
                  <a:srgbClr val="171421"/>
                </a:solidFill>
                <a:latin typeface="Segoe UI"/>
              </a:rPr>
              <a:t>ui-tests</a:t>
            </a:r>
          </a:p>
          <a:p>
            <a:pPr>
              <a:lnSpc>
                <a:spcPct val="126000"/>
              </a:lnSpc>
              <a:spcBef>
                <a:spcPts val="500"/>
              </a:spcBef>
            </a:pPr>
            <a:r>
              <a:rPr sz="1250" b="0">
                <a:solidFill>
                  <a:srgbClr val="5D5772"/>
                </a:solidFill>
                <a:latin typeface="Segoe UI"/>
              </a:rPr>
              <a:t>npm ci  →  playwright install chromium  →  npm run test:ui</a:t>
            </a:r>
          </a:p>
          <a:p>
            <a:pPr>
              <a:lnSpc>
                <a:spcPct val="126000"/>
              </a:lnSpc>
              <a:spcBef>
                <a:spcPts val="500"/>
              </a:spcBef>
            </a:pPr>
            <a:r>
              <a:rPr sz="1250" b="0">
                <a:solidFill>
                  <a:srgbClr val="5D5772"/>
                </a:solidFill>
                <a:latin typeface="Segoe UI"/>
              </a:rPr>
              <a:t>Headless Chromium, fixní viewport 1280×720,</a:t>
            </a:r>
          </a:p>
          <a:p>
            <a:pPr>
              <a:lnSpc>
                <a:spcPct val="126000"/>
              </a:lnSpc>
              <a:spcBef>
                <a:spcPts val="500"/>
              </a:spcBef>
            </a:pPr>
            <a:r>
              <a:rPr sz="1250" b="0">
                <a:solidFill>
                  <a:srgbClr val="5D5772"/>
                </a:solidFill>
                <a:latin typeface="Segoe UI"/>
              </a:rPr>
              <a:t>aby screenshoty ze selhání byly reprodukovatelné.</a:t>
            </a:r>
          </a:p>
        </p:txBody>
      </p:sp>
      <p:sp>
        <p:nvSpPr>
          <p:cNvPr id="10" name="Rectangle 9"/>
          <p:cNvSpPr/>
          <p:nvPr/>
        </p:nvSpPr>
        <p:spPr>
          <a:xfrm>
            <a:off x="6227064" y="1737360"/>
            <a:ext cx="5102352" cy="1773936"/>
          </a:xfrm>
          <a:prstGeom prst="rect">
            <a:avLst/>
          </a:prstGeom>
          <a:solidFill>
            <a:srgbClr val="F0EC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227064" y="1737360"/>
            <a:ext cx="41148" cy="1773936"/>
          </a:xfrm>
          <a:prstGeom prst="rect">
            <a:avLst/>
          </a:prstGeom>
          <a:solidFill>
            <a:srgbClr val="4ADE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519672" y="1975104"/>
            <a:ext cx="4553712" cy="140817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500" b="1">
                <a:solidFill>
                  <a:srgbClr val="171421"/>
                </a:solidFill>
                <a:latin typeface="Segoe UI"/>
              </a:rPr>
              <a:t>api-tests</a:t>
            </a:r>
          </a:p>
          <a:p>
            <a:pPr>
              <a:lnSpc>
                <a:spcPct val="126000"/>
              </a:lnSpc>
              <a:spcBef>
                <a:spcPts val="500"/>
              </a:spcBef>
            </a:pPr>
            <a:r>
              <a:rPr sz="1250" b="0">
                <a:solidFill>
                  <a:srgbClr val="5D5772"/>
                </a:solidFill>
                <a:latin typeface="Segoe UI"/>
              </a:rPr>
              <a:t>npm ci  →  npm run test:api</a:t>
            </a:r>
          </a:p>
          <a:p>
            <a:pPr>
              <a:lnSpc>
                <a:spcPct val="126000"/>
              </a:lnSpc>
              <a:spcBef>
                <a:spcPts val="500"/>
              </a:spcBef>
            </a:pPr>
            <a:r>
              <a:rPr sz="1250" b="0">
                <a:solidFill>
                  <a:srgbClr val="5D5772"/>
                </a:solidFill>
                <a:latin typeface="Segoe UI"/>
              </a:rPr>
              <a:t>Bez instalace prohlížeče. API jede přes request</a:t>
            </a:r>
          </a:p>
          <a:p>
            <a:pPr>
              <a:lnSpc>
                <a:spcPct val="126000"/>
              </a:lnSpc>
              <a:spcBef>
                <a:spcPts val="500"/>
              </a:spcBef>
            </a:pPr>
            <a:r>
              <a:rPr sz="1250" b="0">
                <a:solidFill>
                  <a:srgbClr val="5D5772"/>
                </a:solidFill>
                <a:latin typeface="Segoe UI"/>
              </a:rPr>
              <a:t>fixture, což je samostatný HTTP klient.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68680" y="3785615"/>
            <a:ext cx="10460736" cy="969264"/>
          </a:xfrm>
          <a:prstGeom prst="rect">
            <a:avLst/>
          </a:prstGeom>
          <a:solidFill>
            <a:srgbClr val="E9FB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868680" y="3785615"/>
            <a:ext cx="41148" cy="969264"/>
          </a:xfrm>
          <a:prstGeom prst="rect">
            <a:avLst/>
          </a:prstGeom>
          <a:solidFill>
            <a:srgbClr val="4ADE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161288" y="3968496"/>
            <a:ext cx="9875520" cy="6583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8000"/>
              </a:lnSpc>
            </a:pPr>
            <a:r>
              <a:rPr sz="1350" b="1">
                <a:solidFill>
                  <a:srgbClr val="171421"/>
                </a:solidFill>
                <a:latin typeface="Segoe UI"/>
              </a:rPr>
              <a:t>Vynechání prohlížeče v API jobu jsem ověřil, ne odhadl: </a:t>
            </a:r>
            <a:r>
              <a:rPr sz="1350" b="0">
                <a:solidFill>
                  <a:srgbClr val="5D5772"/>
                </a:solidFill>
                <a:latin typeface="Segoe UI"/>
              </a:rPr>
              <a:t>s prázdným PLAYWRIGHT_BROWSERS_PATH UI suita spadne a API projde. Ušetří to 40–60 sekund na každém běhu.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68680" y="4974336"/>
            <a:ext cx="10460736" cy="128930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8000"/>
              </a:lnSpc>
              <a:spcAft>
                <a:spcPts val="734"/>
              </a:spcAft>
            </a:pPr>
            <a:r>
              <a:rPr sz="1350" b="1">
                <a:solidFill>
                  <a:srgbClr val="171421"/>
                </a:solidFill>
                <a:latin typeface="Segoe UI"/>
              </a:rPr>
              <a:t>Trigger: </a:t>
            </a:r>
            <a:r>
              <a:rPr sz="1350" b="0">
                <a:solidFill>
                  <a:srgbClr val="5D5772"/>
                </a:solidFill>
                <a:latin typeface="Segoe UI"/>
              </a:rPr>
              <a:t>push a pull_request na main.</a:t>
            </a:r>
          </a:p>
          <a:p>
            <a:pPr>
              <a:lnSpc>
                <a:spcPct val="128000"/>
              </a:lnSpc>
              <a:spcAft>
                <a:spcPts val="734"/>
              </a:spcAft>
            </a:pPr>
            <a:r>
              <a:rPr sz="1350" b="1">
                <a:solidFill>
                  <a:srgbClr val="171421"/>
                </a:solidFill>
                <a:latin typeface="Segoe UI"/>
              </a:rPr>
              <a:t>Při selhání: </a:t>
            </a:r>
            <a:r>
              <a:rPr sz="1350" b="0">
                <a:solidFill>
                  <a:srgbClr val="5D5772"/>
                </a:solidFill>
                <a:latin typeface="Segoe UI"/>
              </a:rPr>
              <a:t>HTML report, trace, screenshoty a video jako artefakt s retencí 30 dní.</a:t>
            </a:r>
          </a:p>
          <a:p>
            <a:pPr>
              <a:lnSpc>
                <a:spcPct val="128000"/>
              </a:lnSpc>
              <a:spcAft>
                <a:spcPts val="734"/>
              </a:spcAft>
            </a:pPr>
            <a:r>
              <a:rPr sz="1350" b="1">
                <a:solidFill>
                  <a:srgbClr val="171421"/>
                </a:solidFill>
                <a:latin typeface="Segoe UI"/>
              </a:rPr>
              <a:t>V CI retries: 2, lokálně 0. </a:t>
            </a:r>
            <a:r>
              <a:rPr sz="1350" b="0">
                <a:solidFill>
                  <a:srgbClr val="5D5772"/>
                </a:solidFill>
                <a:latin typeface="Segoe UI"/>
              </a:rPr>
              <a:t>Lokálně chci vidět flake hned, v CI ne kvůli síti.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7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868680" y="566928"/>
            <a:ext cx="45720" cy="786384"/>
          </a:xfrm>
          <a:prstGeom prst="rect">
            <a:avLst/>
          </a:prstGeom>
          <a:solidFill>
            <a:srgbClr val="6D28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115568" y="548640"/>
            <a:ext cx="10460736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050" b="1" spc="160">
                <a:solidFill>
                  <a:srgbClr val="6D28D9"/>
                </a:solidFill>
                <a:latin typeface="Segoe UI"/>
              </a:rPr>
              <a:t>ČÁST 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15568" y="822960"/>
            <a:ext cx="10460736" cy="5669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3000" b="1">
                <a:solidFill>
                  <a:srgbClr val="171421"/>
                </a:solidFill>
                <a:latin typeface="Segoe UI"/>
              </a:rPr>
              <a:t>SQL: úklid a ověření vazby</a:t>
            </a:r>
          </a:p>
        </p:txBody>
      </p:sp>
      <p:sp>
        <p:nvSpPr>
          <p:cNvPr id="5" name="Rectangle 4"/>
          <p:cNvSpPr/>
          <p:nvPr/>
        </p:nvSpPr>
        <p:spPr>
          <a:xfrm>
            <a:off x="868680" y="6327648"/>
            <a:ext cx="10460736" cy="9525"/>
          </a:xfrm>
          <a:prstGeom prst="rect">
            <a:avLst/>
          </a:prstGeom>
          <a:solidFill>
            <a:srgbClr val="DFDA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0" y="6419088"/>
            <a:ext cx="1271016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000" b="0">
                <a:solidFill>
                  <a:srgbClr val="5D5772"/>
                </a:solidFill>
                <a:latin typeface="Segoe UI"/>
              </a:rPr>
              <a:t>9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" y="1682496"/>
            <a:ext cx="5102352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050" b="1" spc="120">
                <a:solidFill>
                  <a:srgbClr val="6D28D9"/>
                </a:solidFill>
                <a:latin typeface="Segoe UI"/>
              </a:rPr>
              <a:t>ÚKLID — potomci před rodičem, kvůli cizímu klíči</a:t>
            </a:r>
          </a:p>
        </p:txBody>
      </p:sp>
      <p:sp>
        <p:nvSpPr>
          <p:cNvPr id="8" name="Rectangle 7"/>
          <p:cNvSpPr/>
          <p:nvPr/>
        </p:nvSpPr>
        <p:spPr>
          <a:xfrm>
            <a:off x="868680" y="1993392"/>
            <a:ext cx="5102352" cy="2002170"/>
          </a:xfrm>
          <a:prstGeom prst="rect">
            <a:avLst/>
          </a:prstGeom>
          <a:solidFill>
            <a:srgbClr val="1B1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88136" y="2194560"/>
            <a:ext cx="4663440" cy="169127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30000"/>
              </a:lnSpc>
            </a:pPr>
            <a:r>
              <a:rPr sz="1150" b="0">
                <a:solidFill>
                  <a:srgbClr val="EDE9F5"/>
                </a:solidFill>
                <a:latin typeface="Consolas"/>
              </a:rPr>
              <a:t>DELETE FROM bookings</a:t>
            </a:r>
          </a:p>
          <a:p>
            <a:pPr>
              <a:lnSpc>
                <a:spcPct val="130000"/>
              </a:lnSpc>
            </a:pPr>
            <a:r>
              <a:rPr sz="1150" b="0">
                <a:solidFill>
                  <a:srgbClr val="EDE9F5"/>
                </a:solidFill>
                <a:latin typeface="Consolas"/>
              </a:rPr>
              <a:t>WHERE customer_id = (</a:t>
            </a:r>
          </a:p>
          <a:p>
            <a:pPr>
              <a:lnSpc>
                <a:spcPct val="130000"/>
              </a:lnSpc>
            </a:pPr>
            <a:r>
              <a:rPr sz="1150" b="0">
                <a:solidFill>
                  <a:srgbClr val="EDE9F5"/>
                </a:solidFill>
                <a:latin typeface="Consolas"/>
              </a:rPr>
              <a:t>  SELECT id FROM customers</a:t>
            </a:r>
          </a:p>
          <a:p>
            <a:pPr>
              <a:lnSpc>
                <a:spcPct val="130000"/>
              </a:lnSpc>
            </a:pPr>
            <a:r>
              <a:rPr sz="1150" b="0">
                <a:solidFill>
                  <a:srgbClr val="EDE9F5"/>
                </a:solidFill>
                <a:latin typeface="Consolas"/>
              </a:rPr>
              <a:t>  WHERE email = 'milena.stranska@example.com'</a:t>
            </a:r>
          </a:p>
          <a:p>
            <a:pPr>
              <a:lnSpc>
                <a:spcPct val="130000"/>
              </a:lnSpc>
            </a:pPr>
            <a:r>
              <a:rPr sz="1150" b="0">
                <a:solidFill>
                  <a:srgbClr val="EDE9F5"/>
                </a:solidFill>
                <a:latin typeface="Consolas"/>
              </a:rPr>
              <a:t>);</a:t>
            </a:r>
          </a:p>
          <a:p>
            <a:pPr>
              <a:lnSpc>
                <a:spcPct val="130000"/>
              </a:lnSpc>
            </a:pPr>
            <a:r>
              <a:rPr sz="1150" b="0">
                <a:solidFill>
                  <a:srgbClr val="EDE9F5"/>
                </a:solidFill>
                <a:latin typeface="Consolas"/>
              </a:rPr>
              <a:t> </a:t>
            </a:r>
          </a:p>
          <a:p>
            <a:pPr>
              <a:lnSpc>
                <a:spcPct val="130000"/>
              </a:lnSpc>
            </a:pPr>
            <a:r>
              <a:rPr sz="1150" b="0">
                <a:solidFill>
                  <a:srgbClr val="EDE9F5"/>
                </a:solidFill>
                <a:latin typeface="Consolas"/>
              </a:rPr>
              <a:t>DELETE FROM customers</a:t>
            </a:r>
          </a:p>
          <a:p>
            <a:pPr>
              <a:lnSpc>
                <a:spcPct val="130000"/>
              </a:lnSpc>
            </a:pPr>
            <a:r>
              <a:rPr sz="1150" b="0">
                <a:solidFill>
                  <a:srgbClr val="EDE9F5"/>
                </a:solidFill>
                <a:latin typeface="Consolas"/>
              </a:rPr>
              <a:t>WHERE email = 'milena.stranska@example.com';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227064" y="1682496"/>
            <a:ext cx="5102352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050" b="1" spc="120">
                <a:solidFill>
                  <a:srgbClr val="6D28D9"/>
                </a:solidFill>
                <a:latin typeface="Segoe UI"/>
              </a:rPr>
              <a:t>OVĚŘENÍ ADRESY — JOIN přes cizí klíč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227064" y="1993392"/>
            <a:ext cx="5102352" cy="1409090"/>
          </a:xfrm>
          <a:prstGeom prst="rect">
            <a:avLst/>
          </a:prstGeom>
          <a:solidFill>
            <a:srgbClr val="1B1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46520" y="2194560"/>
            <a:ext cx="4663440" cy="109819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30000"/>
              </a:lnSpc>
            </a:pPr>
            <a:r>
              <a:rPr sz="1150" b="0">
                <a:solidFill>
                  <a:srgbClr val="EDE9F5"/>
                </a:solidFill>
                <a:latin typeface="Consolas"/>
              </a:rPr>
              <a:t>SELECT u.id, u.firstname, u.lastname,</a:t>
            </a:r>
          </a:p>
          <a:p>
            <a:pPr>
              <a:lnSpc>
                <a:spcPct val="130000"/>
              </a:lnSpc>
            </a:pPr>
            <a:r>
              <a:rPr sz="1150" b="0">
                <a:solidFill>
                  <a:srgbClr val="EDE9F5"/>
                </a:solidFill>
                <a:latin typeface="Consolas"/>
              </a:rPr>
              <a:t>       a.street, a.city, a.postal_code</a:t>
            </a:r>
          </a:p>
          <a:p>
            <a:pPr>
              <a:lnSpc>
                <a:spcPct val="130000"/>
              </a:lnSpc>
            </a:pPr>
            <a:r>
              <a:rPr sz="1150" b="0">
                <a:solidFill>
                  <a:srgbClr val="EDE9F5"/>
                </a:solidFill>
                <a:latin typeface="Consolas"/>
              </a:rPr>
              <a:t>FROM users u</a:t>
            </a:r>
          </a:p>
          <a:p>
            <a:pPr>
              <a:lnSpc>
                <a:spcPct val="130000"/>
              </a:lnSpc>
            </a:pPr>
            <a:r>
              <a:rPr sz="1150" b="0">
                <a:solidFill>
                  <a:srgbClr val="EDE9F5"/>
                </a:solidFill>
                <a:latin typeface="Consolas"/>
              </a:rPr>
              <a:t>JOIN addresses a ON a.user_id = u.id</a:t>
            </a:r>
          </a:p>
          <a:p>
            <a:pPr>
              <a:lnSpc>
                <a:spcPct val="130000"/>
              </a:lnSpc>
            </a:pPr>
            <a:r>
              <a:rPr sz="1150" b="0">
                <a:solidFill>
                  <a:srgbClr val="EDE9F5"/>
                </a:solidFill>
                <a:latin typeface="Consolas"/>
              </a:rPr>
              <a:t>WHERE u.email = 'milena.stranska@example.com';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68680" y="4480560"/>
            <a:ext cx="10460736" cy="12801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30000"/>
              </a:lnSpc>
            </a:pPr>
            <a:r>
              <a:rPr sz="1400" b="1">
                <a:solidFill>
                  <a:srgbClr val="171421"/>
                </a:solidFill>
                <a:latin typeface="Segoe UI"/>
              </a:rPr>
              <a:t>Pořadí mazání je celý vtip úlohy. </a:t>
            </a:r>
            <a:r>
              <a:rPr sz="1400" b="0">
                <a:solidFill>
                  <a:srgbClr val="5D5772"/>
                </a:solidFill>
                <a:latin typeface="Segoe UI"/>
              </a:rPr>
              <a:t>Opačně by DELETE narazil na referenční integritu. Pokud je cizí klíč definovaný s ON DELETE CASCADE, stačí druhý příkaz sám — ale spoléhat na to znamená spoléhat na schéma, které nemusím mít pod kontrolou.
U JOINu je podstatné, že vrácený řádek je zároveň důkaz: prázdný výsledek znamená, že se adresa neuložila nebo se neuložila k tomu správnému uživateli.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7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868680" y="566928"/>
            <a:ext cx="45720" cy="786384"/>
          </a:xfrm>
          <a:prstGeom prst="rect">
            <a:avLst/>
          </a:prstGeom>
          <a:solidFill>
            <a:srgbClr val="6D28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115568" y="548640"/>
            <a:ext cx="10460736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050" b="1" spc="160">
                <a:solidFill>
                  <a:srgbClr val="6D28D9"/>
                </a:solidFill>
                <a:latin typeface="Segoe UI"/>
              </a:rPr>
              <a:t>ŽIVÁ UKÁZKA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15568" y="822960"/>
            <a:ext cx="10460736" cy="5669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3000" b="1">
                <a:solidFill>
                  <a:srgbClr val="171421"/>
                </a:solidFill>
                <a:latin typeface="Segoe UI"/>
              </a:rPr>
              <a:t>Co teď uvidíte</a:t>
            </a:r>
          </a:p>
        </p:txBody>
      </p:sp>
      <p:sp>
        <p:nvSpPr>
          <p:cNvPr id="5" name="Rectangle 4"/>
          <p:cNvSpPr/>
          <p:nvPr/>
        </p:nvSpPr>
        <p:spPr>
          <a:xfrm>
            <a:off x="868680" y="6327648"/>
            <a:ext cx="10460736" cy="9525"/>
          </a:xfrm>
          <a:prstGeom prst="rect">
            <a:avLst/>
          </a:prstGeom>
          <a:solidFill>
            <a:srgbClr val="DFDA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0" y="6419088"/>
            <a:ext cx="1271016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000" b="0">
                <a:solidFill>
                  <a:srgbClr val="5D5772"/>
                </a:solidFill>
                <a:latin typeface="Segoe UI"/>
              </a:rPr>
              <a:t>10</a:t>
            </a:r>
          </a:p>
        </p:txBody>
      </p:sp>
      <p:sp>
        <p:nvSpPr>
          <p:cNvPr id="7" name="Rectangle 6"/>
          <p:cNvSpPr/>
          <p:nvPr/>
        </p:nvSpPr>
        <p:spPr>
          <a:xfrm>
            <a:off x="868680" y="1773936"/>
            <a:ext cx="10460736" cy="768096"/>
          </a:xfrm>
          <a:prstGeom prst="rect">
            <a:avLst/>
          </a:prstGeom>
          <a:solidFill>
            <a:srgbClr val="F0EC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43000" y="1911096"/>
            <a:ext cx="237744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950" b="1" spc="120">
                <a:solidFill>
                  <a:srgbClr val="5D5772"/>
                </a:solidFill>
                <a:latin typeface="Segoe UI"/>
              </a:rPr>
              <a:t>BĚŽÍ UŽ OD ZAČÁTKU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43000" y="2176272"/>
            <a:ext cx="310896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400" b="1">
                <a:solidFill>
                  <a:srgbClr val="6D28D9"/>
                </a:solidFill>
                <a:latin typeface="Consolas"/>
              </a:rPr>
              <a:t>npm run test:demo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892040" y="2029968"/>
            <a:ext cx="6217920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350" b="0">
                <a:solidFill>
                  <a:srgbClr val="171421"/>
                </a:solidFill>
                <a:latin typeface="Segoe UI"/>
              </a:rPr>
              <a:t>UI suita v otevřeném okně, 2 produkty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68680" y="2615184"/>
            <a:ext cx="10460736" cy="768096"/>
          </a:xfrm>
          <a:prstGeom prst="rect">
            <a:avLst/>
          </a:prstGeom>
          <a:solidFill>
            <a:srgbClr val="F4F1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43000" y="2752344"/>
            <a:ext cx="237744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950" b="1" spc="120">
                <a:solidFill>
                  <a:srgbClr val="5D5772"/>
                </a:solidFill>
                <a:latin typeface="Segoe UI"/>
              </a:rPr>
              <a:t>ZA PÁR SEKUND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43000" y="3017520"/>
            <a:ext cx="310896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400" b="1">
                <a:solidFill>
                  <a:srgbClr val="6D28D9"/>
                </a:solidFill>
                <a:latin typeface="Consolas"/>
              </a:rPr>
              <a:t>npm run test:api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892040" y="2871216"/>
            <a:ext cx="6217920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350" b="0">
                <a:solidFill>
                  <a:srgbClr val="171421"/>
                </a:solidFill>
                <a:latin typeface="Segoe UI"/>
              </a:rPr>
              <a:t>Celý API scénář, bez prohlížeče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68680" y="3456432"/>
            <a:ext cx="10460736" cy="768096"/>
          </a:xfrm>
          <a:prstGeom prst="rect">
            <a:avLst/>
          </a:prstGeom>
          <a:solidFill>
            <a:srgbClr val="F0EC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143000" y="3593592"/>
            <a:ext cx="237744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950" b="1" spc="120">
                <a:solidFill>
                  <a:srgbClr val="5D5772"/>
                </a:solidFill>
                <a:latin typeface="Segoe UI"/>
              </a:rPr>
              <a:t>REPORT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43000" y="3858768"/>
            <a:ext cx="310896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400" b="1">
                <a:solidFill>
                  <a:srgbClr val="6D28D9"/>
                </a:solidFill>
                <a:latin typeface="Consolas"/>
              </a:rPr>
              <a:t>npm run report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892040" y="3712464"/>
            <a:ext cx="6217920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350" b="0">
                <a:solidFill>
                  <a:srgbClr val="171421"/>
                </a:solidFill>
                <a:latin typeface="Segoe UI"/>
              </a:rPr>
              <a:t>Rozpad na test.step — čte se proti zadání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68680" y="4297680"/>
            <a:ext cx="10460736" cy="768096"/>
          </a:xfrm>
          <a:prstGeom prst="rect">
            <a:avLst/>
          </a:prstGeom>
          <a:solidFill>
            <a:srgbClr val="F4F1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143000" y="4434840"/>
            <a:ext cx="237744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950" b="1" spc="120">
                <a:solidFill>
                  <a:srgbClr val="5D5772"/>
                </a:solidFill>
                <a:latin typeface="Segoe UI"/>
              </a:rPr>
              <a:t>NA GITHUBU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43000" y="4700016"/>
            <a:ext cx="310896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400" b="1">
                <a:solidFill>
                  <a:srgbClr val="6D28D9"/>
                </a:solidFill>
                <a:latin typeface="Consolas"/>
              </a:rPr>
              <a:t>Actions → PR #1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892040" y="4553712"/>
            <a:ext cx="6217920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350" b="0">
                <a:solidFill>
                  <a:srgbClr val="171421"/>
                </a:solidFill>
                <a:latin typeface="Segoe UI"/>
              </a:rPr>
              <a:t>Zelený běh obou jobů</a:t>
            </a:r>
          </a:p>
        </p:txBody>
      </p:sp>
      <p:sp>
        <p:nvSpPr>
          <p:cNvPr id="23" name="Rectangle 22"/>
          <p:cNvSpPr/>
          <p:nvPr/>
        </p:nvSpPr>
        <p:spPr>
          <a:xfrm>
            <a:off x="868680" y="5138928"/>
            <a:ext cx="10460736" cy="969264"/>
          </a:xfrm>
          <a:prstGeom prst="rect">
            <a:avLst/>
          </a:prstGeom>
          <a:solidFill>
            <a:srgbClr val="FDF3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868680" y="5138928"/>
            <a:ext cx="41148" cy="969264"/>
          </a:xfrm>
          <a:prstGeom prst="rect">
            <a:avLst/>
          </a:prstGeom>
          <a:solidFill>
            <a:srgbClr val="B4530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161288" y="5321808"/>
            <a:ext cx="9875520" cy="6583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8000"/>
              </a:lnSpc>
            </a:pPr>
            <a:r>
              <a:rPr sz="1350" b="1">
                <a:solidFill>
                  <a:srgbClr val="171421"/>
                </a:solidFill>
                <a:latin typeface="Segoe UI"/>
              </a:rPr>
              <a:t>Ať to trvá jakkoli, prodlevy nejsou v testech. </a:t>
            </a:r>
            <a:r>
              <a:rPr sz="1350" b="0">
                <a:solidFill>
                  <a:srgbClr val="5D5772"/>
                </a:solidFill>
                <a:latin typeface="Segoe UI"/>
              </a:rPr>
              <a:t>Demoblaze jednou odpoví za 300 ms, jindy za 35 sekund. Každé čekání, které uvidíte, je auto-retry assertion, která pokračuje ve chvíli, kdy data dorazí.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7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868680" y="566928"/>
            <a:ext cx="45720" cy="786384"/>
          </a:xfrm>
          <a:prstGeom prst="rect">
            <a:avLst/>
          </a:prstGeom>
          <a:solidFill>
            <a:srgbClr val="6D28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115568" y="548640"/>
            <a:ext cx="10460736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050" b="1" spc="160">
                <a:solidFill>
                  <a:srgbClr val="6D28D9"/>
                </a:solidFill>
                <a:latin typeface="Segoe UI"/>
              </a:rPr>
              <a:t>SEBEREFLEXE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15568" y="822960"/>
            <a:ext cx="10460736" cy="5669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3000" b="1">
                <a:solidFill>
                  <a:srgbClr val="171421"/>
                </a:solidFill>
                <a:latin typeface="Segoe UI"/>
              </a:rPr>
              <a:t>Co bych dělal dál</a:t>
            </a:r>
          </a:p>
        </p:txBody>
      </p:sp>
      <p:sp>
        <p:nvSpPr>
          <p:cNvPr id="5" name="Rectangle 4"/>
          <p:cNvSpPr/>
          <p:nvPr/>
        </p:nvSpPr>
        <p:spPr>
          <a:xfrm>
            <a:off x="868680" y="6327648"/>
            <a:ext cx="10460736" cy="9525"/>
          </a:xfrm>
          <a:prstGeom prst="rect">
            <a:avLst/>
          </a:prstGeom>
          <a:solidFill>
            <a:srgbClr val="DFDA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0" y="6419088"/>
            <a:ext cx="1271016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000" b="0">
                <a:solidFill>
                  <a:srgbClr val="5D5772"/>
                </a:solidFill>
                <a:latin typeface="Segoe UI"/>
              </a:rPr>
              <a:t>11</a:t>
            </a:r>
          </a:p>
        </p:txBody>
      </p:sp>
      <p:sp>
        <p:nvSpPr>
          <p:cNvPr id="7" name="Rectangle 6"/>
          <p:cNvSpPr/>
          <p:nvPr/>
        </p:nvSpPr>
        <p:spPr>
          <a:xfrm>
            <a:off x="868680" y="1755648"/>
            <a:ext cx="10460736" cy="1243584"/>
          </a:xfrm>
          <a:prstGeom prst="rect">
            <a:avLst/>
          </a:prstGeom>
          <a:solidFill>
            <a:srgbClr val="F0EC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868680" y="1755648"/>
            <a:ext cx="41148" cy="1243584"/>
          </a:xfrm>
          <a:prstGeom prst="rect">
            <a:avLst/>
          </a:prstGeom>
          <a:solidFill>
            <a:srgbClr val="B4530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61288" y="1993392"/>
            <a:ext cx="9912096" cy="87782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500" b="1">
                <a:solidFill>
                  <a:srgbClr val="171421"/>
                </a:solidFill>
                <a:latin typeface="Segoe UI"/>
              </a:rPr>
              <a:t>Cleanup rezervace přes DELETE /booking/{id}</a:t>
            </a:r>
          </a:p>
          <a:p>
            <a:pPr>
              <a:lnSpc>
                <a:spcPct val="126000"/>
              </a:lnSpc>
              <a:spcBef>
                <a:spcPts val="500"/>
              </a:spcBef>
            </a:pPr>
            <a:r>
              <a:rPr sz="1250" b="0">
                <a:solidFill>
                  <a:srgbClr val="5D5772"/>
                </a:solidFill>
                <a:latin typeface="Segoe UI"/>
              </a:rPr>
              <a:t>Zadání zmiňuje cleanup ve větě uvozující API scénář, ale nevyjmenovává ho mezi kroky — část 4 ho řeší jako teorii.</a:t>
            </a:r>
          </a:p>
          <a:p>
            <a:pPr>
              <a:lnSpc>
                <a:spcPct val="126000"/>
              </a:lnSpc>
              <a:spcBef>
                <a:spcPts val="500"/>
              </a:spcBef>
            </a:pPr>
            <a:r>
              <a:rPr sz="1250" b="0">
                <a:solidFill>
                  <a:srgbClr val="5D5772"/>
                </a:solidFill>
                <a:latin typeface="Segoe UI"/>
              </a:rPr>
              <a:t>Restful-Booker je sdílená veřejná instance, takže po sobě uklízet je hygiena: token z POST /auth a teardown v afterEach.</a:t>
            </a:r>
          </a:p>
        </p:txBody>
      </p:sp>
      <p:sp>
        <p:nvSpPr>
          <p:cNvPr id="10" name="Rectangle 9"/>
          <p:cNvSpPr/>
          <p:nvPr/>
        </p:nvSpPr>
        <p:spPr>
          <a:xfrm>
            <a:off x="868680" y="3163824"/>
            <a:ext cx="5102352" cy="1481328"/>
          </a:xfrm>
          <a:prstGeom prst="rect">
            <a:avLst/>
          </a:prstGeom>
          <a:solidFill>
            <a:srgbClr val="F0EC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868680" y="3163824"/>
            <a:ext cx="41148" cy="1481328"/>
          </a:xfrm>
          <a:prstGeom prst="rect">
            <a:avLst/>
          </a:prstGeom>
          <a:solidFill>
            <a:srgbClr val="5D57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61288" y="3401568"/>
            <a:ext cx="4553712" cy="11155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500" b="1">
                <a:solidFill>
                  <a:srgbClr val="171421"/>
                </a:solidFill>
                <a:latin typeface="Segoe UI"/>
              </a:rPr>
              <a:t>Negativní scénáře</a:t>
            </a:r>
          </a:p>
          <a:p>
            <a:pPr>
              <a:lnSpc>
                <a:spcPct val="126000"/>
              </a:lnSpc>
              <a:spcBef>
                <a:spcPts val="500"/>
              </a:spcBef>
            </a:pPr>
            <a:r>
              <a:rPr sz="1250" b="0">
                <a:solidFill>
                  <a:srgbClr val="5D5772"/>
                </a:solidFill>
                <a:latin typeface="Segoe UI"/>
              </a:rPr>
              <a:t>Dnes pokrývám happy path, jak zadání žádá.</a:t>
            </a:r>
          </a:p>
          <a:p>
            <a:pPr>
              <a:lnSpc>
                <a:spcPct val="126000"/>
              </a:lnSpc>
              <a:spcBef>
                <a:spcPts val="500"/>
              </a:spcBef>
            </a:pPr>
            <a:r>
              <a:rPr sz="1250" b="0">
                <a:solidFill>
                  <a:srgbClr val="5D5772"/>
                </a:solidFill>
                <a:latin typeface="Segoe UI"/>
              </a:rPr>
              <a:t>Přirozené rozšíření: neexistující bookingid,</a:t>
            </a:r>
          </a:p>
          <a:p>
            <a:pPr>
              <a:lnSpc>
                <a:spcPct val="126000"/>
              </a:lnSpc>
              <a:spcBef>
                <a:spcPts val="500"/>
              </a:spcBef>
            </a:pPr>
            <a:r>
              <a:rPr sz="1250" b="0">
                <a:solidFill>
                  <a:srgbClr val="5D5772"/>
                </a:solidFill>
                <a:latin typeface="Segoe UI"/>
              </a:rPr>
              <a:t>nevalidní payload, produkt mimo mřížku.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227064" y="3163824"/>
            <a:ext cx="5102352" cy="1481328"/>
          </a:xfrm>
          <a:prstGeom prst="rect">
            <a:avLst/>
          </a:prstGeom>
          <a:solidFill>
            <a:srgbClr val="F0EC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227064" y="3163824"/>
            <a:ext cx="41148" cy="1481328"/>
          </a:xfrm>
          <a:prstGeom prst="rect">
            <a:avLst/>
          </a:prstGeom>
          <a:solidFill>
            <a:srgbClr val="5D57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519672" y="3401568"/>
            <a:ext cx="4553712" cy="11155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500" b="1">
                <a:solidFill>
                  <a:srgbClr val="171421"/>
                </a:solidFill>
                <a:latin typeface="Segoe UI"/>
              </a:rPr>
              <a:t>Šířka záběru</a:t>
            </a:r>
          </a:p>
          <a:p>
            <a:pPr>
              <a:lnSpc>
                <a:spcPct val="126000"/>
              </a:lnSpc>
              <a:spcBef>
                <a:spcPts val="500"/>
              </a:spcBef>
            </a:pPr>
            <a:r>
              <a:rPr sz="1250" b="0">
                <a:solidFill>
                  <a:srgbClr val="5D5772"/>
                </a:solidFill>
                <a:latin typeface="Segoe UI"/>
              </a:rPr>
              <a:t>Cross-browser matice (Firefox, WebKit),</a:t>
            </a:r>
          </a:p>
          <a:p>
            <a:pPr>
              <a:lnSpc>
                <a:spcPct val="126000"/>
              </a:lnSpc>
              <a:spcBef>
                <a:spcPts val="500"/>
              </a:spcBef>
            </a:pPr>
            <a:r>
              <a:rPr sz="1250" b="0">
                <a:solidFill>
                  <a:srgbClr val="5D5772"/>
                </a:solidFill>
                <a:latin typeface="Segoe UI"/>
              </a:rPr>
              <a:t>více produktů řízených daty,</a:t>
            </a:r>
          </a:p>
          <a:p>
            <a:pPr>
              <a:lnSpc>
                <a:spcPct val="126000"/>
              </a:lnSpc>
              <a:spcBef>
                <a:spcPts val="500"/>
              </a:spcBef>
            </a:pPr>
            <a:r>
              <a:rPr sz="1250" b="0">
                <a:solidFill>
                  <a:srgbClr val="5D5772"/>
                </a:solidFill>
                <a:latin typeface="Segoe UI"/>
              </a:rPr>
              <a:t>a trace: 'on-first-retry' pro rychlejší diagnostiku.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68680" y="4901184"/>
            <a:ext cx="10460736" cy="10972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30000"/>
              </a:lnSpc>
            </a:pPr>
            <a:r>
              <a:rPr sz="1400" b="1">
                <a:solidFill>
                  <a:srgbClr val="171421"/>
                </a:solidFill>
                <a:latin typeface="Segoe UI"/>
              </a:rPr>
              <a:t>Co jsem vědomě neudělal: </a:t>
            </a:r>
            <a:r>
              <a:rPr sz="1400" b="0">
                <a:solidFill>
                  <a:srgbClr val="5D5772"/>
                </a:solidFill>
                <a:latin typeface="Segoe UI"/>
              </a:rPr>
              <a:t>NavigationHeader nemá isLoaded(). Je to komponenta bez vlastní URL, skládaná do všech stránek — kontrakt page guardu na ni nesedí. Rád to obhájím nebo změním.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